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8"/>
  </p:notesMasterIdLst>
  <p:handoutMasterIdLst>
    <p:handoutMasterId r:id="rId29"/>
  </p:handoutMasterIdLst>
  <p:sldIdLst>
    <p:sldId id="410" r:id="rId5"/>
    <p:sldId id="423" r:id="rId6"/>
    <p:sldId id="425" r:id="rId7"/>
    <p:sldId id="424" r:id="rId8"/>
    <p:sldId id="444" r:id="rId9"/>
    <p:sldId id="445" r:id="rId10"/>
    <p:sldId id="446" r:id="rId11"/>
    <p:sldId id="447" r:id="rId12"/>
    <p:sldId id="421" r:id="rId13"/>
    <p:sldId id="431" r:id="rId14"/>
    <p:sldId id="432" r:id="rId15"/>
    <p:sldId id="448" r:id="rId16"/>
    <p:sldId id="433" r:id="rId17"/>
    <p:sldId id="434" r:id="rId18"/>
    <p:sldId id="439" r:id="rId19"/>
    <p:sldId id="435" r:id="rId20"/>
    <p:sldId id="440" r:id="rId21"/>
    <p:sldId id="437" r:id="rId22"/>
    <p:sldId id="441" r:id="rId23"/>
    <p:sldId id="442" r:id="rId24"/>
    <p:sldId id="438" r:id="rId25"/>
    <p:sldId id="443" r:id="rId26"/>
    <p:sldId id="398" r:id="rId2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4643" autoAdjust="0"/>
  </p:normalViewPr>
  <p:slideViewPr>
    <p:cSldViewPr snapToGrid="0">
      <p:cViewPr varScale="1">
        <p:scale>
          <a:sx n="63" d="100"/>
          <a:sy n="63" d="100"/>
        </p:scale>
        <p:origin x="10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189EAA-0BF0-4339-A97E-770515ECA621}" type="doc">
      <dgm:prSet loTypeId="urn:microsoft.com/office/officeart/2018/2/layout/IconLabelList#1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6F7DF57-E380-44CB-B5A6-E26E6E26F96C}">
      <dgm:prSet/>
      <dgm:spPr/>
      <dgm:t>
        <a:bodyPr/>
        <a:lstStyle/>
        <a:p>
          <a:r>
            <a:rPr lang="en-US"/>
            <a:t>By:</a:t>
          </a:r>
        </a:p>
      </dgm:t>
    </dgm:pt>
    <dgm:pt modelId="{29EB2BD6-3998-4DF5-94A3-D051D68BFB2D}" type="parTrans" cxnId="{4EC29F1B-84B8-4939-BAD2-4C508140FC09}">
      <dgm:prSet/>
      <dgm:spPr/>
      <dgm:t>
        <a:bodyPr/>
        <a:lstStyle/>
        <a:p>
          <a:endParaRPr lang="en-US"/>
        </a:p>
      </dgm:t>
    </dgm:pt>
    <dgm:pt modelId="{5D8426E4-085E-4087-81CF-A5E001D994ED}" type="sibTrans" cxnId="{4EC29F1B-84B8-4939-BAD2-4C508140FC09}">
      <dgm:prSet/>
      <dgm:spPr/>
      <dgm:t>
        <a:bodyPr/>
        <a:lstStyle/>
        <a:p>
          <a:endParaRPr lang="en-US"/>
        </a:p>
      </dgm:t>
    </dgm:pt>
    <dgm:pt modelId="{FFDD9B36-1EAC-4842-8FA6-7C6C03F43DEB}">
      <dgm:prSet/>
      <dgm:spPr/>
      <dgm:t>
        <a:bodyPr/>
        <a:lstStyle/>
        <a:p>
          <a:r>
            <a:rPr lang="en-US"/>
            <a:t>Bibi Amna</a:t>
          </a:r>
        </a:p>
      </dgm:t>
    </dgm:pt>
    <dgm:pt modelId="{B01C39F3-8871-4D6B-A0E2-6B3A43E0DC1E}" type="parTrans" cxnId="{593BB312-63F3-4949-ADC5-B565F9D34F38}">
      <dgm:prSet/>
      <dgm:spPr/>
      <dgm:t>
        <a:bodyPr/>
        <a:lstStyle/>
        <a:p>
          <a:endParaRPr lang="en-US"/>
        </a:p>
      </dgm:t>
    </dgm:pt>
    <dgm:pt modelId="{CA07E325-7837-4ABD-9A20-A0B079B6E1A6}" type="sibTrans" cxnId="{593BB312-63F3-4949-ADC5-B565F9D34F38}">
      <dgm:prSet/>
      <dgm:spPr/>
      <dgm:t>
        <a:bodyPr/>
        <a:lstStyle/>
        <a:p>
          <a:endParaRPr lang="en-US"/>
        </a:p>
      </dgm:t>
    </dgm:pt>
    <dgm:pt modelId="{9BEB5D5E-16A4-4882-B68E-A54A571CB875}">
      <dgm:prSet/>
      <dgm:spPr/>
      <dgm:t>
        <a:bodyPr/>
        <a:lstStyle/>
        <a:p>
          <a:r>
            <a:rPr lang="en-US"/>
            <a:t>Bahria University, Islamabad</a:t>
          </a:r>
        </a:p>
      </dgm:t>
    </dgm:pt>
    <dgm:pt modelId="{C43B1EC1-95E4-4B42-B1DC-58D2552BB7CD}" type="parTrans" cxnId="{ABE64D28-5635-421F-A07E-DCC717606FF8}">
      <dgm:prSet/>
      <dgm:spPr/>
      <dgm:t>
        <a:bodyPr/>
        <a:lstStyle/>
        <a:p>
          <a:endParaRPr lang="en-US"/>
        </a:p>
      </dgm:t>
    </dgm:pt>
    <dgm:pt modelId="{BEBB30B3-C401-41AE-AAF5-DE5BBC58AFA6}" type="sibTrans" cxnId="{ABE64D28-5635-421F-A07E-DCC717606FF8}">
      <dgm:prSet/>
      <dgm:spPr/>
      <dgm:t>
        <a:bodyPr/>
        <a:lstStyle/>
        <a:p>
          <a:endParaRPr lang="en-US"/>
        </a:p>
      </dgm:t>
    </dgm:pt>
    <dgm:pt modelId="{3C81DAEB-4265-42FE-80E9-C8F71F45A05C}" type="pres">
      <dgm:prSet presAssocID="{E9189EAA-0BF0-4339-A97E-770515ECA621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91C3E84-9783-459B-8724-8F76A65AB94A}" type="pres">
      <dgm:prSet presAssocID="{26F7DF57-E380-44CB-B5A6-E26E6E26F96C}" presName="compNode" presStyleCnt="0"/>
      <dgm:spPr/>
    </dgm:pt>
    <dgm:pt modelId="{08F820D0-682D-44BA-9541-28E96724C658}" type="pres">
      <dgm:prSet presAssocID="{26F7DF57-E380-44CB-B5A6-E26E6E26F96C}" presName="iconRect" presStyleLbl="node1" presStyleIdx="0" presStyleCnt="3"/>
      <dgm:spPr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Add"/>
        </a:ext>
      </dgm:extLst>
    </dgm:pt>
    <dgm:pt modelId="{7FB82C20-1736-407E-AD70-F37641BEA03D}" type="pres">
      <dgm:prSet presAssocID="{26F7DF57-E380-44CB-B5A6-E26E6E26F96C}" presName="spaceRect" presStyleCnt="0"/>
      <dgm:spPr/>
    </dgm:pt>
    <dgm:pt modelId="{1E2033B0-D249-4AD4-90E1-431E7449994C}" type="pres">
      <dgm:prSet presAssocID="{26F7DF57-E380-44CB-B5A6-E26E6E26F96C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206E1C87-C275-4300-B03B-5E89C1B4B519}" type="pres">
      <dgm:prSet presAssocID="{5D8426E4-085E-4087-81CF-A5E001D994ED}" presName="sibTrans" presStyleCnt="0"/>
      <dgm:spPr/>
    </dgm:pt>
    <dgm:pt modelId="{C12113A9-3812-481E-87B7-8D5695BF8084}" type="pres">
      <dgm:prSet presAssocID="{FFDD9B36-1EAC-4842-8FA6-7C6C03F43DEB}" presName="compNode" presStyleCnt="0"/>
      <dgm:spPr/>
    </dgm:pt>
    <dgm:pt modelId="{5FCC9DAF-2F49-4F78-91E7-746FB30695FD}" type="pres">
      <dgm:prSet presAssocID="{FFDD9B36-1EAC-4842-8FA6-7C6C03F43DEB}" presName="iconRect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64A218D-629F-4AB1-8C45-DE3076770111}" type="pres">
      <dgm:prSet presAssocID="{FFDD9B36-1EAC-4842-8FA6-7C6C03F43DEB}" presName="spaceRect" presStyleCnt="0"/>
      <dgm:spPr/>
    </dgm:pt>
    <dgm:pt modelId="{E8F59E4F-C2D6-4875-BE28-6E2656C837F7}" type="pres">
      <dgm:prSet presAssocID="{FFDD9B36-1EAC-4842-8FA6-7C6C03F43DEB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5FA65FDB-1BE9-4C68-A1E9-0AF746581B95}" type="pres">
      <dgm:prSet presAssocID="{CA07E325-7837-4ABD-9A20-A0B079B6E1A6}" presName="sibTrans" presStyleCnt="0"/>
      <dgm:spPr/>
    </dgm:pt>
    <dgm:pt modelId="{89C6EFA1-B21D-45DB-B030-70DE6B8BC713}" type="pres">
      <dgm:prSet presAssocID="{9BEB5D5E-16A4-4882-B68E-A54A571CB875}" presName="compNode" presStyleCnt="0"/>
      <dgm:spPr/>
    </dgm:pt>
    <dgm:pt modelId="{FB181848-F102-42E2-8F47-BB9B126B964D}" type="pres">
      <dgm:prSet presAssocID="{9BEB5D5E-16A4-4882-B68E-A54A571CB875}" presName="iconRect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65FDE161-2FC8-40E7-9C10-F07593946912}" type="pres">
      <dgm:prSet presAssocID="{9BEB5D5E-16A4-4882-B68E-A54A571CB875}" presName="spaceRect" presStyleCnt="0"/>
      <dgm:spPr/>
    </dgm:pt>
    <dgm:pt modelId="{3C246099-D8C6-4244-ABE4-4A2DEFDCE607}" type="pres">
      <dgm:prSet presAssocID="{9BEB5D5E-16A4-4882-B68E-A54A571CB875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93BB312-63F3-4949-ADC5-B565F9D34F38}" srcId="{E9189EAA-0BF0-4339-A97E-770515ECA621}" destId="{FFDD9B36-1EAC-4842-8FA6-7C6C03F43DEB}" srcOrd="1" destOrd="0" parTransId="{B01C39F3-8871-4D6B-A0E2-6B3A43E0DC1E}" sibTransId="{CA07E325-7837-4ABD-9A20-A0B079B6E1A6}"/>
    <dgm:cxn modelId="{ADC36A8A-B10C-491B-98C0-868F64225A5B}" type="presOf" srcId="{9BEB5D5E-16A4-4882-B68E-A54A571CB875}" destId="{3C246099-D8C6-4244-ABE4-4A2DEFDCE607}" srcOrd="0" destOrd="0" presId="urn:microsoft.com/office/officeart/2018/2/layout/IconLabelList#1"/>
    <dgm:cxn modelId="{595D9A3C-AFFE-4B39-B890-B5671A29DC96}" type="presOf" srcId="{FFDD9B36-1EAC-4842-8FA6-7C6C03F43DEB}" destId="{E8F59E4F-C2D6-4875-BE28-6E2656C837F7}" srcOrd="0" destOrd="0" presId="urn:microsoft.com/office/officeart/2018/2/layout/IconLabelList#1"/>
    <dgm:cxn modelId="{62F4A6A0-33AA-468C-93DD-9D8AD062EEC6}" type="presOf" srcId="{26F7DF57-E380-44CB-B5A6-E26E6E26F96C}" destId="{1E2033B0-D249-4AD4-90E1-431E7449994C}" srcOrd="0" destOrd="0" presId="urn:microsoft.com/office/officeart/2018/2/layout/IconLabelList#1"/>
    <dgm:cxn modelId="{6A50DB88-181C-45EA-BF9B-2CCCE2555D5D}" type="presOf" srcId="{E9189EAA-0BF0-4339-A97E-770515ECA621}" destId="{3C81DAEB-4265-42FE-80E9-C8F71F45A05C}" srcOrd="0" destOrd="0" presId="urn:microsoft.com/office/officeart/2018/2/layout/IconLabelList#1"/>
    <dgm:cxn modelId="{4EC29F1B-84B8-4939-BAD2-4C508140FC09}" srcId="{E9189EAA-0BF0-4339-A97E-770515ECA621}" destId="{26F7DF57-E380-44CB-B5A6-E26E6E26F96C}" srcOrd="0" destOrd="0" parTransId="{29EB2BD6-3998-4DF5-94A3-D051D68BFB2D}" sibTransId="{5D8426E4-085E-4087-81CF-A5E001D994ED}"/>
    <dgm:cxn modelId="{ABE64D28-5635-421F-A07E-DCC717606FF8}" srcId="{E9189EAA-0BF0-4339-A97E-770515ECA621}" destId="{9BEB5D5E-16A4-4882-B68E-A54A571CB875}" srcOrd="2" destOrd="0" parTransId="{C43B1EC1-95E4-4B42-B1DC-58D2552BB7CD}" sibTransId="{BEBB30B3-C401-41AE-AAF5-DE5BBC58AFA6}"/>
    <dgm:cxn modelId="{BB959DD6-EF76-4897-95E7-B537C504E0C0}" type="presParOf" srcId="{3C81DAEB-4265-42FE-80E9-C8F71F45A05C}" destId="{D91C3E84-9783-459B-8724-8F76A65AB94A}" srcOrd="0" destOrd="0" presId="urn:microsoft.com/office/officeart/2018/2/layout/IconLabelList#1"/>
    <dgm:cxn modelId="{54738C0D-EBDE-4717-B109-AC9794CAC1E2}" type="presParOf" srcId="{D91C3E84-9783-459B-8724-8F76A65AB94A}" destId="{08F820D0-682D-44BA-9541-28E96724C658}" srcOrd="0" destOrd="0" presId="urn:microsoft.com/office/officeart/2018/2/layout/IconLabelList#1"/>
    <dgm:cxn modelId="{37F62036-C2F2-4D9A-974D-FB456F9AFFD2}" type="presParOf" srcId="{D91C3E84-9783-459B-8724-8F76A65AB94A}" destId="{7FB82C20-1736-407E-AD70-F37641BEA03D}" srcOrd="1" destOrd="0" presId="urn:microsoft.com/office/officeart/2018/2/layout/IconLabelList#1"/>
    <dgm:cxn modelId="{5D31A39D-4145-4B42-AB1A-D4210C488A18}" type="presParOf" srcId="{D91C3E84-9783-459B-8724-8F76A65AB94A}" destId="{1E2033B0-D249-4AD4-90E1-431E7449994C}" srcOrd="2" destOrd="0" presId="urn:microsoft.com/office/officeart/2018/2/layout/IconLabelList#1"/>
    <dgm:cxn modelId="{DEA5D298-02F7-4686-B721-8423CB89FD96}" type="presParOf" srcId="{3C81DAEB-4265-42FE-80E9-C8F71F45A05C}" destId="{206E1C87-C275-4300-B03B-5E89C1B4B519}" srcOrd="1" destOrd="0" presId="urn:microsoft.com/office/officeart/2018/2/layout/IconLabelList#1"/>
    <dgm:cxn modelId="{00152B26-FFE3-4796-8464-00A911C14573}" type="presParOf" srcId="{3C81DAEB-4265-42FE-80E9-C8F71F45A05C}" destId="{C12113A9-3812-481E-87B7-8D5695BF8084}" srcOrd="2" destOrd="0" presId="urn:microsoft.com/office/officeart/2018/2/layout/IconLabelList#1"/>
    <dgm:cxn modelId="{4138F1D3-5979-4B68-AC2C-F5E01969B34B}" type="presParOf" srcId="{C12113A9-3812-481E-87B7-8D5695BF8084}" destId="{5FCC9DAF-2F49-4F78-91E7-746FB30695FD}" srcOrd="0" destOrd="0" presId="urn:microsoft.com/office/officeart/2018/2/layout/IconLabelList#1"/>
    <dgm:cxn modelId="{6ACAA407-51F1-41AF-81EE-5F6A8C820DC3}" type="presParOf" srcId="{C12113A9-3812-481E-87B7-8D5695BF8084}" destId="{D64A218D-629F-4AB1-8C45-DE3076770111}" srcOrd="1" destOrd="0" presId="urn:microsoft.com/office/officeart/2018/2/layout/IconLabelList#1"/>
    <dgm:cxn modelId="{563483CA-2B39-4FD7-9A45-702550DC537E}" type="presParOf" srcId="{C12113A9-3812-481E-87B7-8D5695BF8084}" destId="{E8F59E4F-C2D6-4875-BE28-6E2656C837F7}" srcOrd="2" destOrd="0" presId="urn:microsoft.com/office/officeart/2018/2/layout/IconLabelList#1"/>
    <dgm:cxn modelId="{152F4144-567D-4488-AFA6-F4A4E2321B80}" type="presParOf" srcId="{3C81DAEB-4265-42FE-80E9-C8F71F45A05C}" destId="{5FA65FDB-1BE9-4C68-A1E9-0AF746581B95}" srcOrd="3" destOrd="0" presId="urn:microsoft.com/office/officeart/2018/2/layout/IconLabelList#1"/>
    <dgm:cxn modelId="{B216742B-93E4-4566-888E-C669076FFB41}" type="presParOf" srcId="{3C81DAEB-4265-42FE-80E9-C8F71F45A05C}" destId="{89C6EFA1-B21D-45DB-B030-70DE6B8BC713}" srcOrd="4" destOrd="0" presId="urn:microsoft.com/office/officeart/2018/2/layout/IconLabelList#1"/>
    <dgm:cxn modelId="{94FB9192-CA2D-45A7-AF1D-E291FDD1533C}" type="presParOf" srcId="{89C6EFA1-B21D-45DB-B030-70DE6B8BC713}" destId="{FB181848-F102-42E2-8F47-BB9B126B964D}" srcOrd="0" destOrd="0" presId="urn:microsoft.com/office/officeart/2018/2/layout/IconLabelList#1"/>
    <dgm:cxn modelId="{BD543B86-EA0B-4767-80A9-7C974E696279}" type="presParOf" srcId="{89C6EFA1-B21D-45DB-B030-70DE6B8BC713}" destId="{65FDE161-2FC8-40E7-9C10-F07593946912}" srcOrd="1" destOrd="0" presId="urn:microsoft.com/office/officeart/2018/2/layout/IconLabelList#1"/>
    <dgm:cxn modelId="{81249607-0F9D-4E15-93B8-BFFD6B45368B}" type="presParOf" srcId="{89C6EFA1-B21D-45DB-B030-70DE6B8BC713}" destId="{3C246099-D8C6-4244-ABE4-4A2DEFDCE607}" srcOrd="2" destOrd="0" presId="urn:microsoft.com/office/officeart/2018/2/layout/IconLabelLis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820D0-682D-44BA-9541-28E96724C658}">
      <dsp:nvSpPr>
        <dsp:cNvPr id="0" name=""/>
        <dsp:cNvSpPr/>
      </dsp:nvSpPr>
      <dsp:spPr>
        <a:xfrm>
          <a:off x="907265" y="998056"/>
          <a:ext cx="982313" cy="982313"/>
        </a:xfrm>
        <a:prstGeom prst="rect">
          <a:avLst/>
        </a:prstGeom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2033B0-D249-4AD4-90E1-431E7449994C}">
      <dsp:nvSpPr>
        <dsp:cNvPr id="0" name=""/>
        <dsp:cNvSpPr/>
      </dsp:nvSpPr>
      <dsp:spPr>
        <a:xfrm>
          <a:off x="306963" y="2281003"/>
          <a:ext cx="218291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By:</a:t>
          </a:r>
        </a:p>
      </dsp:txBody>
      <dsp:txXfrm>
        <a:off x="306963" y="2281003"/>
        <a:ext cx="2182919" cy="720000"/>
      </dsp:txXfrm>
    </dsp:sp>
    <dsp:sp modelId="{5FCC9DAF-2F49-4F78-91E7-746FB30695FD}">
      <dsp:nvSpPr>
        <dsp:cNvPr id="0" name=""/>
        <dsp:cNvSpPr/>
      </dsp:nvSpPr>
      <dsp:spPr>
        <a:xfrm>
          <a:off x="3472195" y="998056"/>
          <a:ext cx="982313" cy="982313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F59E4F-C2D6-4875-BE28-6E2656C837F7}">
      <dsp:nvSpPr>
        <dsp:cNvPr id="0" name=""/>
        <dsp:cNvSpPr/>
      </dsp:nvSpPr>
      <dsp:spPr>
        <a:xfrm>
          <a:off x="2871892" y="2281003"/>
          <a:ext cx="218291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Bibi Amna</a:t>
          </a:r>
        </a:p>
      </dsp:txBody>
      <dsp:txXfrm>
        <a:off x="2871892" y="2281003"/>
        <a:ext cx="2182919" cy="720000"/>
      </dsp:txXfrm>
    </dsp:sp>
    <dsp:sp modelId="{FB181848-F102-42E2-8F47-BB9B126B964D}">
      <dsp:nvSpPr>
        <dsp:cNvPr id="0" name=""/>
        <dsp:cNvSpPr/>
      </dsp:nvSpPr>
      <dsp:spPr>
        <a:xfrm>
          <a:off x="6037125" y="998056"/>
          <a:ext cx="982313" cy="9823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46099-D8C6-4244-ABE4-4A2DEFDCE607}">
      <dsp:nvSpPr>
        <dsp:cNvPr id="0" name=""/>
        <dsp:cNvSpPr/>
      </dsp:nvSpPr>
      <dsp:spPr>
        <a:xfrm>
          <a:off x="5436822" y="2281003"/>
          <a:ext cx="218291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Bahria University, Islamabad</a:t>
          </a:r>
        </a:p>
      </dsp:txBody>
      <dsp:txXfrm>
        <a:off x="5436822" y="2281003"/>
        <a:ext cx="218291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#1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B6C54E-D314-E2A8-F6E2-3F1756DC31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1C5B45F2-744F-40D1-9958-B7D0A5BBBA10}" type="datetimeFigureOut">
              <a:rPr lang="en-US"/>
              <a:pPr>
                <a:defRPr/>
              </a:pPr>
              <a:t>01-Sep-26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B2EE6-BDBD-FF93-0B5C-D11BB45DAF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09E231C8-000F-4CE7-B07D-7BAC6A52429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96501EA-20A8-FB47-75F7-FFCA436367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97984D4B-27CF-6079-6035-BA4A945D0B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9CF0A7-0773-D96F-7FB7-066751A5CB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C367AC-B7BD-EA9C-4143-5B92EF51DC8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05D36981-4AD5-4148-B5E5-4310F2EB635D}" type="datetimeFigureOut">
              <a:rPr lang="en-US"/>
              <a:pPr>
                <a:defRPr/>
              </a:pPr>
              <a:t>01-Sep-26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5AFC144-82BB-85F4-99D1-2DD7FFDDAE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D049FC3-2142-C434-EFE9-CA6D27BCE4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37217-9B8D-D781-CF7F-C9E34CB41A0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B8BC3-5928-2911-9B88-3DDE8B5ED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2788948-F3F6-4639-9B27-357256AE25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0EE7368A-21FB-2959-0CEE-7D39947AFA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E97C5825-00F9-C53F-16FE-E6B4DF23C8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PK" altLang="en-PK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31BED89B-F375-1224-3FC9-A398D1ACF3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C89EFF-892E-43EA-964A-C217F11681FA}" type="slidenum">
              <a:rPr lang="en-US" altLang="en-PK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PK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970F5C06-2E3C-B6EA-BCFB-ACCE40F14F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6F746055-85D5-87B9-B2E0-25DD193D3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PK" altLang="en-PK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52940205-5E69-A1E6-A409-53278A3960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F6025A7-40EA-48A1-A1D1-D707D709111F}" type="slidenum">
              <a:rPr lang="en-US" altLang="en-PK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PK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Quick question: </a:t>
            </a:r>
            <a:r>
              <a:rPr lang="en-US" dirty="0"/>
              <a:t>Have you used an automated testing tool before? (Yes/No)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788948-F3F6-4639-9B27-357256AE256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440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Activity:</a:t>
            </a:r>
            <a:r>
              <a:rPr lang="en-US" dirty="0"/>
              <a:t> Identify a real-life scenario where each principle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788948-F3F6-4639-9B27-357256AE256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936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Hands-On:</a:t>
            </a:r>
            <a:r>
              <a:rPr lang="en-US" dirty="0"/>
              <a:t> Find a simple buggy Python/Java/C++ code snippet. Identify what’s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788948-F3F6-4639-9B27-357256AE256C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19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C84AB4EB-1740-B664-B001-25DA849873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E24AF7B7-905B-7958-7F26-949A4F929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PK" altLang="en-PK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5B5383FE-E069-5EE3-53DD-A76E26DF3C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F21E3C1-7F22-4597-9755-3A0BE98E5C86}" type="slidenum">
              <a:rPr lang="en-US" altLang="en-PK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PK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">
            <a:extLst>
              <a:ext uri="{FF2B5EF4-FFF2-40B4-BE49-F238E27FC236}">
                <a16:creationId xmlns:a16="http://schemas.microsoft.com/office/drawing/2014/main" id="{AD093831-F8FB-60AF-4913-2DDBC31854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758825"/>
            <a:ext cx="6099175" cy="6099175"/>
            <a:chOff x="0" y="12289"/>
            <a:chExt cx="3550" cy="3551"/>
          </a:xfrm>
        </p:grpSpPr>
        <p:sp>
          <p:nvSpPr>
            <p:cNvPr id="4" name="Freeform 9">
              <a:extLst>
                <a:ext uri="{FF2B5EF4-FFF2-40B4-BE49-F238E27FC236}">
                  <a16:creationId xmlns:a16="http://schemas.microsoft.com/office/drawing/2014/main" id="{80A3B589-8ED6-340F-7EE1-C221F7815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2A877F19-8EB7-C083-0751-77C2C7023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*/ 14679 h 1162"/>
                <a:gd name="T2" fmla="*/ 0 w 1162"/>
                <a:gd name="T3" fmla="*/ 15840 h 1162"/>
                <a:gd name="T4" fmla="*/ 1161 w 1162"/>
                <a:gd name="T5" fmla="*/ 15840 h 1162"/>
                <a:gd name="T6" fmla="*/ 0 w 1162"/>
                <a:gd name="T7" fmla="*/ 14679 h 11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0DE06DD4-80B3-14E2-12AA-424A9E245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</p:grpSp>
      <p:cxnSp>
        <p:nvCxnSpPr>
          <p:cNvPr id="7" name="Straight Connector 6" descr="&quot;&quot;">
            <a:extLst>
              <a:ext uri="{FF2B5EF4-FFF2-40B4-BE49-F238E27FC236}">
                <a16:creationId xmlns:a16="http://schemas.microsoft.com/office/drawing/2014/main" id="{58724F3F-4E80-F97C-8781-67526FB554A7}"/>
              </a:ext>
            </a:extLst>
          </p:cNvPr>
          <p:cNvCxnSpPr>
            <a:cxnSpLocks/>
          </p:cNvCxnSpPr>
          <p:nvPr userDrawn="1"/>
        </p:nvCxnSpPr>
        <p:spPr>
          <a:xfrm>
            <a:off x="6308725" y="3949700"/>
            <a:ext cx="2133600" cy="4763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411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">
            <a:extLst>
              <a:ext uri="{FF2B5EF4-FFF2-40B4-BE49-F238E27FC236}">
                <a16:creationId xmlns:a16="http://schemas.microsoft.com/office/drawing/2014/main" id="{DDB2D224-C079-F679-123B-18A70D486E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362700" y="0"/>
            <a:ext cx="5829300" cy="3235325"/>
            <a:chOff x="5612972" y="1"/>
            <a:chExt cx="6615961" cy="3672246"/>
          </a:xfrm>
        </p:grpSpPr>
        <p:sp>
          <p:nvSpPr>
            <p:cNvPr id="4" name="AutoShape 24">
              <a:extLst>
                <a:ext uri="{FF2B5EF4-FFF2-40B4-BE49-F238E27FC236}">
                  <a16:creationId xmlns:a16="http://schemas.microsoft.com/office/drawing/2014/main" id="{07A28070-17DA-76D5-ABC7-B5896E578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840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3CE44A03-12D1-FA8F-1D17-8F3490C6E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0872" y="1463133"/>
              <a:ext cx="2208924" cy="2209114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9D201C49-350D-A846-4144-2BCA3AE07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201" y="1"/>
              <a:ext cx="1457601" cy="729765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D9298DF3-D47B-9B13-14B3-F447069D3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*/ 736887 w 1792"/>
                <a:gd name="T1" fmla="*/ 728288 h 1792"/>
                <a:gd name="T2" fmla="*/ 0 w 1792"/>
                <a:gd name="T3" fmla="*/ 1463969 h 1792"/>
                <a:gd name="T4" fmla="*/ 1472541 w 1792"/>
                <a:gd name="T5" fmla="*/ 2936565 h 1792"/>
                <a:gd name="T6" fmla="*/ 2208196 w 1792"/>
                <a:gd name="T7" fmla="*/ 2200883 h 1792"/>
                <a:gd name="T8" fmla="*/ 736887 w 1792"/>
                <a:gd name="T9" fmla="*/ 728288 h 1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D7A4CD9A-523A-B697-39A5-24C0C26F8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4902" y="727963"/>
              <a:ext cx="2944031" cy="2944284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</p:grpSp>
      <p:cxnSp>
        <p:nvCxnSpPr>
          <p:cNvPr id="9" name="Straight Connector 8" descr="&quot;&quot;">
            <a:extLst>
              <a:ext uri="{FF2B5EF4-FFF2-40B4-BE49-F238E27FC236}">
                <a16:creationId xmlns:a16="http://schemas.microsoft.com/office/drawing/2014/main" id="{97152510-6F3B-FD2A-3414-CB8DA926CA12}"/>
              </a:ext>
            </a:extLst>
          </p:cNvPr>
          <p:cNvCxnSpPr>
            <a:cxnSpLocks/>
          </p:cNvCxnSpPr>
          <p:nvPr userDrawn="1"/>
        </p:nvCxnSpPr>
        <p:spPr>
          <a:xfrm>
            <a:off x="593725" y="2149475"/>
            <a:ext cx="2130425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/>
          <p:cNvSpPr>
            <a:spLocks noGrp="1"/>
          </p:cNvSpPr>
          <p:nvPr>
            <p:ph sz="quarter" idx="13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42">
            <a:extLst>
              <a:ext uri="{FF2B5EF4-FFF2-40B4-BE49-F238E27FC236}">
                <a16:creationId xmlns:a16="http://schemas.microsoft.com/office/drawing/2014/main" id="{D88B69C4-1E9D-33AB-7629-F9FE15F573E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E5E9D-4B6D-4D4C-A577-3E8D333BFA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Date Placeholder 41">
            <a:extLst>
              <a:ext uri="{FF2B5EF4-FFF2-40B4-BE49-F238E27FC236}">
                <a16:creationId xmlns:a16="http://schemas.microsoft.com/office/drawing/2014/main" id="{3C2053B9-5F5A-8654-5EC8-483EFFD47F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41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rgbClr val="4495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descr="&quot;&quot;">
            <a:extLst>
              <a:ext uri="{FF2B5EF4-FFF2-40B4-BE49-F238E27FC236}">
                <a16:creationId xmlns:a16="http://schemas.microsoft.com/office/drawing/2014/main" id="{5601C2C5-6D4B-F10F-ABD1-5E225F3CE11F}"/>
              </a:ext>
            </a:extLst>
          </p:cNvPr>
          <p:cNvSpPr/>
          <p:nvPr userDrawn="1"/>
        </p:nvSpPr>
        <p:spPr>
          <a:xfrm>
            <a:off x="6308725" y="3951288"/>
            <a:ext cx="2133600" cy="10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tIns="182880" rtlCol="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324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 descr="&quot;&quot;">
            <a:extLst>
              <a:ext uri="{FF2B5EF4-FFF2-40B4-BE49-F238E27FC236}">
                <a16:creationId xmlns:a16="http://schemas.microsoft.com/office/drawing/2014/main" id="{5E04C337-35CF-89A5-B0C7-C93B26BD4E7F}"/>
              </a:ext>
            </a:extLst>
          </p:cNvPr>
          <p:cNvCxnSpPr>
            <a:cxnSpLocks/>
          </p:cNvCxnSpPr>
          <p:nvPr userDrawn="1"/>
        </p:nvCxnSpPr>
        <p:spPr>
          <a:xfrm>
            <a:off x="6308725" y="3949700"/>
            <a:ext cx="2133600" cy="4763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8" name="Text Placeholder 29"/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6926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 descr="&quot;&quot;">
            <a:extLst>
              <a:ext uri="{FF2B5EF4-FFF2-40B4-BE49-F238E27FC236}">
                <a16:creationId xmlns:a16="http://schemas.microsoft.com/office/drawing/2014/main" id="{5229542D-8DE6-5034-E258-31ADD9CA2C01}"/>
              </a:ext>
            </a:extLst>
          </p:cNvPr>
          <p:cNvCxnSpPr>
            <a:cxnSpLocks/>
          </p:cNvCxnSpPr>
          <p:nvPr userDrawn="1"/>
        </p:nvCxnSpPr>
        <p:spPr>
          <a:xfrm>
            <a:off x="593725" y="2149475"/>
            <a:ext cx="2133600" cy="3175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FBE5607-1FEF-50E6-5FB4-D6F155F132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488"/>
            <a:ext cx="2959100" cy="2959100"/>
            <a:chOff x="0" y="12289"/>
            <a:chExt cx="3550" cy="3551"/>
          </a:xfrm>
        </p:grpSpPr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BB1B34DE-779B-117F-74EC-6F03B824E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" y="12289"/>
              <a:ext cx="1788" cy="2385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6" name="Freeform 20">
              <a:extLst>
                <a:ext uri="{FF2B5EF4-FFF2-40B4-BE49-F238E27FC236}">
                  <a16:creationId xmlns:a16="http://schemas.microsoft.com/office/drawing/2014/main" id="{10B41DDA-2499-D5BA-2789-A3A73159B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*/ 14679 h 1162"/>
                <a:gd name="T2" fmla="*/ 0 w 1162"/>
                <a:gd name="T3" fmla="*/ 15840 h 1162"/>
                <a:gd name="T4" fmla="*/ 1161 w 1162"/>
                <a:gd name="T5" fmla="*/ 15840 h 1162"/>
                <a:gd name="T6" fmla="*/ 0 w 1162"/>
                <a:gd name="T7" fmla="*/ 14679 h 11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" name="Freeform 21">
              <a:extLst>
                <a:ext uri="{FF2B5EF4-FFF2-40B4-BE49-F238E27FC236}">
                  <a16:creationId xmlns:a16="http://schemas.microsoft.com/office/drawing/2014/main" id="{6ED74123-2F55-40BB-BDEC-AE559C0D5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" y="14674"/>
              <a:ext cx="2329" cy="1166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</p:grp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/>
          <p:cNvSpPr>
            <a:spLocks noGrp="1"/>
          </p:cNvSpPr>
          <p:nvPr>
            <p:ph sz="quarter" idx="13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1E3AD9-301F-D99B-A2ED-185C04098A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63ADF-9569-4435-995A-4B4E0CAF69B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D7639FCA-C7F6-19B5-698F-5E0C1048AEA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61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">
            <a:extLst>
              <a:ext uri="{FF2B5EF4-FFF2-40B4-BE49-F238E27FC236}">
                <a16:creationId xmlns:a16="http://schemas.microsoft.com/office/drawing/2014/main" id="{56D1A81F-69C2-78B6-1CA9-61117415BEA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758825"/>
            <a:ext cx="6099175" cy="6099175"/>
            <a:chOff x="0" y="12289"/>
            <a:chExt cx="3550" cy="3551"/>
          </a:xfrm>
        </p:grpSpPr>
        <p:sp>
          <p:nvSpPr>
            <p:cNvPr id="4" name="Freeform 9">
              <a:extLst>
                <a:ext uri="{FF2B5EF4-FFF2-40B4-BE49-F238E27FC236}">
                  <a16:creationId xmlns:a16="http://schemas.microsoft.com/office/drawing/2014/main" id="{156E4334-30C1-00EB-1133-176069280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BF0ABB58-8116-3C8A-F157-C89222D6E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*/ 14679 h 1162"/>
                <a:gd name="T2" fmla="*/ 0 w 1162"/>
                <a:gd name="T3" fmla="*/ 15840 h 1162"/>
                <a:gd name="T4" fmla="*/ 1161 w 1162"/>
                <a:gd name="T5" fmla="*/ 15840 h 1162"/>
                <a:gd name="T6" fmla="*/ 0 w 1162"/>
                <a:gd name="T7" fmla="*/ 14679 h 11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91BC4292-A6D3-9675-7927-C00CFC6FF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</p:grpSp>
      <p:cxnSp>
        <p:nvCxnSpPr>
          <p:cNvPr id="7" name="Straight Connector 6" descr="&quot;&quot;">
            <a:extLst>
              <a:ext uri="{FF2B5EF4-FFF2-40B4-BE49-F238E27FC236}">
                <a16:creationId xmlns:a16="http://schemas.microsoft.com/office/drawing/2014/main" id="{81468FAE-D5CE-13EC-37D1-A026CA5A689A}"/>
              </a:ext>
            </a:extLst>
          </p:cNvPr>
          <p:cNvCxnSpPr>
            <a:cxnSpLocks/>
          </p:cNvCxnSpPr>
          <p:nvPr userDrawn="1"/>
        </p:nvCxnSpPr>
        <p:spPr>
          <a:xfrm>
            <a:off x="6308725" y="3949700"/>
            <a:ext cx="2133600" cy="4763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9"/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722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>
            <a:extLst>
              <a:ext uri="{FF2B5EF4-FFF2-40B4-BE49-F238E27FC236}">
                <a16:creationId xmlns:a16="http://schemas.microsoft.com/office/drawing/2014/main" id="{A3DF98C6-9F99-B17B-ECB9-D92A1A2643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69363" y="0"/>
            <a:ext cx="3325812" cy="3325813"/>
            <a:chOff x="0" y="12289"/>
            <a:chExt cx="3550" cy="3551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86AF8CD5-FD7D-80F1-CD42-5232C2675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" y="12287"/>
              <a:ext cx="1789" cy="2387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54649BC-D225-BB11-078A-D1C73AF61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*/ 14679 h 1162"/>
                <a:gd name="T2" fmla="*/ 0 w 1162"/>
                <a:gd name="T3" fmla="*/ 15840 h 1162"/>
                <a:gd name="T4" fmla="*/ 1161 w 1162"/>
                <a:gd name="T5" fmla="*/ 15840 h 1162"/>
                <a:gd name="T6" fmla="*/ 0 w 1162"/>
                <a:gd name="T7" fmla="*/ 14679 h 11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B4206FA-F76E-46CC-5D09-71F12A135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0" y="14676"/>
              <a:ext cx="2328" cy="1164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</p:grpSp>
      <p:cxnSp>
        <p:nvCxnSpPr>
          <p:cNvPr id="8" name="Straight Connector 7" descr="&quot;&quot;">
            <a:extLst>
              <a:ext uri="{FF2B5EF4-FFF2-40B4-BE49-F238E27FC236}">
                <a16:creationId xmlns:a16="http://schemas.microsoft.com/office/drawing/2014/main" id="{6D134D03-19F6-7E08-3A60-975640D5F79F}"/>
              </a:ext>
            </a:extLst>
          </p:cNvPr>
          <p:cNvCxnSpPr>
            <a:cxnSpLocks/>
          </p:cNvCxnSpPr>
          <p:nvPr userDrawn="1"/>
        </p:nvCxnSpPr>
        <p:spPr>
          <a:xfrm>
            <a:off x="593725" y="2149475"/>
            <a:ext cx="2133600" cy="3175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/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 lIns="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5"/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 lIns="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8C5C74A1-24E2-6D84-D21C-F70781F246D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29E67-F894-41F5-8BBA-B08049F660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Date Placeholder 7">
            <a:extLst>
              <a:ext uri="{FF2B5EF4-FFF2-40B4-BE49-F238E27FC236}">
                <a16:creationId xmlns:a16="http://schemas.microsoft.com/office/drawing/2014/main" id="{28710F9B-CAAB-8874-14F3-2A83CEB3287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90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">
            <a:extLst>
              <a:ext uri="{FF2B5EF4-FFF2-40B4-BE49-F238E27FC236}">
                <a16:creationId xmlns:a16="http://schemas.microsoft.com/office/drawing/2014/main" id="{BA6D6215-9DAA-8704-6DD3-4CD8EDF2FC2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362700" y="0"/>
            <a:ext cx="5829300" cy="3235325"/>
            <a:chOff x="5612972" y="1"/>
            <a:chExt cx="6615961" cy="3672246"/>
          </a:xfrm>
        </p:grpSpPr>
        <p:sp>
          <p:nvSpPr>
            <p:cNvPr id="4" name="AutoShape 24">
              <a:extLst>
                <a:ext uri="{FF2B5EF4-FFF2-40B4-BE49-F238E27FC236}">
                  <a16:creationId xmlns:a16="http://schemas.microsoft.com/office/drawing/2014/main" id="{5DABE8E8-982F-F158-B508-EE0F7F686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840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5BD676C0-33E3-A3A9-066C-23E2A492D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0872" y="1463133"/>
              <a:ext cx="2208924" cy="2209114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D7A3FEE-D6DE-1B8A-E01B-C766E5A4D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201" y="1"/>
              <a:ext cx="1457601" cy="729765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6067E7A4-22BE-A0D8-DC85-EA3904489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*/ 736887 w 1792"/>
                <a:gd name="T1" fmla="*/ 728288 h 1792"/>
                <a:gd name="T2" fmla="*/ 0 w 1792"/>
                <a:gd name="T3" fmla="*/ 1463969 h 1792"/>
                <a:gd name="T4" fmla="*/ 1472541 w 1792"/>
                <a:gd name="T5" fmla="*/ 2936565 h 1792"/>
                <a:gd name="T6" fmla="*/ 2208196 w 1792"/>
                <a:gd name="T7" fmla="*/ 2200883 h 1792"/>
                <a:gd name="T8" fmla="*/ 736887 w 1792"/>
                <a:gd name="T9" fmla="*/ 728288 h 1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7F0B8BD7-7C14-0E8F-CE98-9FC3B6864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4902" y="727963"/>
              <a:ext cx="2944031" cy="2944284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</p:grpSp>
      <p:cxnSp>
        <p:nvCxnSpPr>
          <p:cNvPr id="10" name="Straight Connector 9" descr="&quot;&quot;">
            <a:extLst>
              <a:ext uri="{FF2B5EF4-FFF2-40B4-BE49-F238E27FC236}">
                <a16:creationId xmlns:a16="http://schemas.microsoft.com/office/drawing/2014/main" id="{2F594305-90C4-3F56-304C-1A2A80D9BE5C}"/>
              </a:ext>
            </a:extLst>
          </p:cNvPr>
          <p:cNvCxnSpPr>
            <a:cxnSpLocks/>
          </p:cNvCxnSpPr>
          <p:nvPr userDrawn="1"/>
        </p:nvCxnSpPr>
        <p:spPr>
          <a:xfrm>
            <a:off x="6346825" y="6313488"/>
            <a:ext cx="2133600" cy="3175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Content Placeholder 5"/>
          <p:cNvSpPr>
            <a:spLocks noGrp="1"/>
          </p:cNvSpPr>
          <p:nvPr>
            <p:ph sz="quarter" idx="15"/>
          </p:nvPr>
        </p:nvSpPr>
        <p:spPr>
          <a:xfrm>
            <a:off x="594360" y="2810595"/>
            <a:ext cx="5198269" cy="3319513"/>
          </a:xfrm>
        </p:spPr>
        <p:txBody>
          <a:bodyPr lIns="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5EF69C5-8147-AD68-8075-AC0AB0CF11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EF2CE-639B-4469-8715-F7AA18CF03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Date Placeholder 7">
            <a:extLst>
              <a:ext uri="{FF2B5EF4-FFF2-40B4-BE49-F238E27FC236}">
                <a16:creationId xmlns:a16="http://schemas.microsoft.com/office/drawing/2014/main" id="{82F946E3-0B1E-05A3-7157-C78AF6FFCAE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91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 descr="&quot;&quot;">
            <a:extLst>
              <a:ext uri="{FF2B5EF4-FFF2-40B4-BE49-F238E27FC236}">
                <a16:creationId xmlns:a16="http://schemas.microsoft.com/office/drawing/2014/main" id="{84D8706F-01C1-0C94-0DE5-E4FFF013B54A}"/>
              </a:ext>
            </a:extLst>
          </p:cNvPr>
          <p:cNvCxnSpPr>
            <a:cxnSpLocks/>
          </p:cNvCxnSpPr>
          <p:nvPr userDrawn="1"/>
        </p:nvCxnSpPr>
        <p:spPr>
          <a:xfrm>
            <a:off x="593725" y="2997200"/>
            <a:ext cx="2133600" cy="4763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5"/>
          <p:cNvSpPr>
            <a:spLocks noGrp="1"/>
          </p:cNvSpPr>
          <p:nvPr>
            <p:ph sz="quarter" idx="16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650B3EEF-3558-9F91-554E-3D433626BF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F27434-4488-43F6-987E-A969EC301A6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Date Placeholder 7">
            <a:extLst>
              <a:ext uri="{FF2B5EF4-FFF2-40B4-BE49-F238E27FC236}">
                <a16:creationId xmlns:a16="http://schemas.microsoft.com/office/drawing/2014/main" id="{1143A6AD-21E3-5BB6-A9A2-4B2199C2C39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9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99615A-9081-EEFD-3A79-132D0D10FD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488"/>
            <a:ext cx="2959100" cy="2959100"/>
            <a:chOff x="0" y="12289"/>
            <a:chExt cx="3550" cy="3551"/>
          </a:xfrm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4B2EB0C4-70DD-9822-D082-1A3429892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" y="12289"/>
              <a:ext cx="1788" cy="2385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" name="Freeform 14">
              <a:extLst>
                <a:ext uri="{FF2B5EF4-FFF2-40B4-BE49-F238E27FC236}">
                  <a16:creationId xmlns:a16="http://schemas.microsoft.com/office/drawing/2014/main" id="{9C663579-48C9-6301-AD87-36839DFFE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*/ 14679 h 1162"/>
                <a:gd name="T2" fmla="*/ 0 w 1162"/>
                <a:gd name="T3" fmla="*/ 15840 h 1162"/>
                <a:gd name="T4" fmla="*/ 1161 w 1162"/>
                <a:gd name="T5" fmla="*/ 15840 h 1162"/>
                <a:gd name="T6" fmla="*/ 0 w 1162"/>
                <a:gd name="T7" fmla="*/ 14679 h 11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A38CF2A7-193E-FC61-7A36-524D8653E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" y="14674"/>
              <a:ext cx="2329" cy="1166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</p:grpSp>
      <p:cxnSp>
        <p:nvCxnSpPr>
          <p:cNvPr id="8" name="Straight Connector 7" descr="&quot;&quot;">
            <a:extLst>
              <a:ext uri="{FF2B5EF4-FFF2-40B4-BE49-F238E27FC236}">
                <a16:creationId xmlns:a16="http://schemas.microsoft.com/office/drawing/2014/main" id="{31CC1BFE-F956-7184-EEB5-14230EFE0B59}"/>
              </a:ext>
            </a:extLst>
          </p:cNvPr>
          <p:cNvCxnSpPr>
            <a:cxnSpLocks/>
          </p:cNvCxnSpPr>
          <p:nvPr userDrawn="1"/>
        </p:nvCxnSpPr>
        <p:spPr>
          <a:xfrm>
            <a:off x="3670300" y="6313488"/>
            <a:ext cx="2133600" cy="3175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11B6FEFE-9F73-2FC5-1DC9-A62046FB58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BC23B7-A9C3-41B4-9D2A-91BB6EA0E41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Date Placeholder 7">
            <a:extLst>
              <a:ext uri="{FF2B5EF4-FFF2-40B4-BE49-F238E27FC236}">
                <a16:creationId xmlns:a16="http://schemas.microsoft.com/office/drawing/2014/main" id="{6B881010-3483-88E8-81DE-FB99B523698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72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E7F080-957F-3689-AC0A-BCD35EED416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69363" y="0"/>
            <a:ext cx="3325812" cy="3325813"/>
            <a:chOff x="0" y="12289"/>
            <a:chExt cx="3550" cy="3551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3C73D387-76B8-8A13-58F0-64BDF90E0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-2" y="12287"/>
              <a:ext cx="1789" cy="2387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50C073B6-2E13-00C4-EC41-AB58C5FD5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*/ 14679 h 1162"/>
                <a:gd name="T2" fmla="*/ 0 w 1162"/>
                <a:gd name="T3" fmla="*/ 15840 h 1162"/>
                <a:gd name="T4" fmla="*/ 1161 w 1162"/>
                <a:gd name="T5" fmla="*/ 15840 h 1162"/>
                <a:gd name="T6" fmla="*/ 0 w 1162"/>
                <a:gd name="T7" fmla="*/ 14679 h 11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D2BF18F-9344-8852-A5C0-E7BCDEAEA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0" y="14676"/>
              <a:ext cx="2328" cy="1164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</p:grpSp>
      <p:cxnSp>
        <p:nvCxnSpPr>
          <p:cNvPr id="8" name="Straight Connector 7" descr="&quot;&quot;">
            <a:extLst>
              <a:ext uri="{FF2B5EF4-FFF2-40B4-BE49-F238E27FC236}">
                <a16:creationId xmlns:a16="http://schemas.microsoft.com/office/drawing/2014/main" id="{64149AF2-6944-DC3D-7A3D-E2D7FCB5BCBD}"/>
              </a:ext>
            </a:extLst>
          </p:cNvPr>
          <p:cNvCxnSpPr>
            <a:cxnSpLocks/>
          </p:cNvCxnSpPr>
          <p:nvPr userDrawn="1"/>
        </p:nvCxnSpPr>
        <p:spPr>
          <a:xfrm>
            <a:off x="593725" y="2149475"/>
            <a:ext cx="2133600" cy="3175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7">
            <a:extLst>
              <a:ext uri="{FF2B5EF4-FFF2-40B4-BE49-F238E27FC236}">
                <a16:creationId xmlns:a16="http://schemas.microsoft.com/office/drawing/2014/main" id="{C7F7307B-414F-185C-3FDC-0E72F616C2D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786F447-EF98-C631-B7D8-C27D0065D9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85F8E-DAFC-4F2C-A2EB-DBD69315B6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108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 descr="&quot;&quot;">
            <a:extLst>
              <a:ext uri="{FF2B5EF4-FFF2-40B4-BE49-F238E27FC236}">
                <a16:creationId xmlns:a16="http://schemas.microsoft.com/office/drawing/2014/main" id="{16BDD42B-5F60-51B6-7863-F85223624A5A}"/>
              </a:ext>
            </a:extLst>
          </p:cNvPr>
          <p:cNvCxnSpPr>
            <a:cxnSpLocks/>
          </p:cNvCxnSpPr>
          <p:nvPr userDrawn="1"/>
        </p:nvCxnSpPr>
        <p:spPr>
          <a:xfrm>
            <a:off x="593725" y="2149475"/>
            <a:ext cx="2133600" cy="3175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able Placeholder 2"/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5E119F88-7411-E0CB-640C-8D8D57DF47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DFC707-67BE-4C4B-870F-2CE9D5F100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7">
            <a:extLst>
              <a:ext uri="{FF2B5EF4-FFF2-40B4-BE49-F238E27FC236}">
                <a16:creationId xmlns:a16="http://schemas.microsoft.com/office/drawing/2014/main" id="{E8C09302-410E-35B6-0E3D-F389758619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01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">
            <a:extLst>
              <a:ext uri="{FF2B5EF4-FFF2-40B4-BE49-F238E27FC236}">
                <a16:creationId xmlns:a16="http://schemas.microsoft.com/office/drawing/2014/main" id="{385729FA-4CAD-8B67-8E3C-685B92D0BA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825" y="0"/>
            <a:ext cx="6099175" cy="6099175"/>
            <a:chOff x="0" y="12289"/>
            <a:chExt cx="3550" cy="3551"/>
          </a:xfrm>
        </p:grpSpPr>
        <p:sp>
          <p:nvSpPr>
            <p:cNvPr id="4" name="Freeform 9">
              <a:extLst>
                <a:ext uri="{FF2B5EF4-FFF2-40B4-BE49-F238E27FC236}">
                  <a16:creationId xmlns:a16="http://schemas.microsoft.com/office/drawing/2014/main" id="{59F2F4CD-5B8A-19D2-C5E6-01F1748B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5F20FD19-5CAE-2DCA-E6FE-C79F9F268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*/ 14679 h 1162"/>
                <a:gd name="T2" fmla="*/ 0 w 1162"/>
                <a:gd name="T3" fmla="*/ 15840 h 1162"/>
                <a:gd name="T4" fmla="*/ 1161 w 1162"/>
                <a:gd name="T5" fmla="*/ 15840 h 1162"/>
                <a:gd name="T6" fmla="*/ 0 w 1162"/>
                <a:gd name="T7" fmla="*/ 14679 h 11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1C6883A9-E929-15BD-82F5-49999B201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upright="1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</p:grpSp>
      <p:cxnSp>
        <p:nvCxnSpPr>
          <p:cNvPr id="7" name="Straight Connector 6" descr="&quot;&quot;">
            <a:extLst>
              <a:ext uri="{FF2B5EF4-FFF2-40B4-BE49-F238E27FC236}">
                <a16:creationId xmlns:a16="http://schemas.microsoft.com/office/drawing/2014/main" id="{5AE79EE1-7FC0-0A14-0E1E-6B26C866A05F}"/>
              </a:ext>
            </a:extLst>
          </p:cNvPr>
          <p:cNvCxnSpPr>
            <a:cxnSpLocks/>
          </p:cNvCxnSpPr>
          <p:nvPr userDrawn="1"/>
        </p:nvCxnSpPr>
        <p:spPr>
          <a:xfrm>
            <a:off x="593725" y="3949700"/>
            <a:ext cx="2133600" cy="4763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9"/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2690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>
            <a:extLst>
              <a:ext uri="{FF2B5EF4-FFF2-40B4-BE49-F238E27FC236}">
                <a16:creationId xmlns:a16="http://schemas.microsoft.com/office/drawing/2014/main" id="{546DE46F-9B85-0EF8-9A5A-F6B487D5C9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3725" y="1825625"/>
            <a:ext cx="1038225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Click to edit Master text styles</a:t>
            </a:r>
          </a:p>
          <a:p>
            <a:pPr lvl="1"/>
            <a:r>
              <a:rPr lang="en-US" altLang="en-PK"/>
              <a:t>Second level</a:t>
            </a:r>
          </a:p>
          <a:p>
            <a:pPr lvl="2"/>
            <a:r>
              <a:rPr lang="en-US" altLang="en-PK"/>
              <a:t>Third level</a:t>
            </a:r>
          </a:p>
          <a:p>
            <a:pPr lvl="3"/>
            <a:r>
              <a:rPr lang="en-US" altLang="en-PK"/>
              <a:t>Fourth level</a:t>
            </a:r>
          </a:p>
          <a:p>
            <a:pPr lvl="4"/>
            <a:r>
              <a:rPr lang="en-US" altLang="en-PK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0206FAF3-B0E9-1270-2911-1C7B7EDEC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25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7D8BEBAF-B08A-5EF0-5B91-7F530E3C2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475" y="6332538"/>
            <a:ext cx="1312863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00" b="0" i="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D716ABE5-5BBC-282E-E10E-6FF8F5D1D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725" y="6332538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00" b="1" i="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2D6AB251-8641-42BA-8991-C2A8B31E5A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</p:sldLayoutIdLst>
  <p:hf hdr="0" dt="0"/>
  <p:txStyles>
    <p:titleStyle>
      <a:lvl1pPr algn="l" rtl="0" fontAlgn="base">
        <a:lnSpc>
          <a:spcPct val="80000"/>
        </a:lnSpc>
        <a:spcBef>
          <a:spcPct val="0"/>
        </a:spcBef>
        <a:spcAft>
          <a:spcPct val="0"/>
        </a:spcAft>
        <a:defRPr sz="4400" b="1" kern="1200" spc="1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lnSpc>
          <a:spcPct val="8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Franklin Gothic Demi" panose="020B0703020102020204" pitchFamily="34" charset="0"/>
        </a:defRPr>
      </a:lvl2pPr>
      <a:lvl3pPr algn="l" rtl="0" fontAlgn="base">
        <a:lnSpc>
          <a:spcPct val="8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Franklin Gothic Demi" panose="020B0703020102020204" pitchFamily="34" charset="0"/>
        </a:defRPr>
      </a:lvl3pPr>
      <a:lvl4pPr algn="l" rtl="0" fontAlgn="base">
        <a:lnSpc>
          <a:spcPct val="8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Franklin Gothic Demi" panose="020B0703020102020204" pitchFamily="34" charset="0"/>
        </a:defRPr>
      </a:lvl4pPr>
      <a:lvl5pPr algn="l" rtl="0" fontAlgn="base">
        <a:lnSpc>
          <a:spcPct val="8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Franklin Gothic Demi" panose="020B07030201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2575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2575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2575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2575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2575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ibiAmna.buic@bahria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mailto:BibiAmna.buic@bahria.edu.pk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BibiAmna.buic@bahria.edu.pk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902F8-100F-4EAD-3E23-4401AD72A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0313" y="411163"/>
            <a:ext cx="5486400" cy="329247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Software Quality Assurance</a:t>
            </a:r>
          </a:p>
        </p:txBody>
      </p:sp>
      <p:sp>
        <p:nvSpPr>
          <p:cNvPr id="17411" name="TextBox 2">
            <a:extLst>
              <a:ext uri="{FF2B5EF4-FFF2-40B4-BE49-F238E27FC236}">
                <a16:creationId xmlns:a16="http://schemas.microsoft.com/office/drawing/2014/main" id="{7972327C-05EC-DC7F-21D2-1D03F643D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2700" y="5091113"/>
            <a:ext cx="34115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n-US" altLang="en-PK" dirty="0">
                <a:solidFill>
                  <a:schemeClr val="bg1"/>
                </a:solidFill>
              </a:rPr>
              <a:t>By:</a:t>
            </a:r>
          </a:p>
          <a:p>
            <a:pPr eaLnBrk="1" hangingPunct="1"/>
            <a:r>
              <a:rPr lang="en-US" altLang="en-PK" dirty="0">
                <a:solidFill>
                  <a:schemeClr val="bg1"/>
                </a:solidFill>
              </a:rPr>
              <a:t>Bibi Amna</a:t>
            </a:r>
          </a:p>
          <a:p>
            <a:pPr eaLnBrk="1" hangingPunct="1"/>
            <a:r>
              <a:rPr lang="en-US" altLang="en-PK" dirty="0">
                <a:solidFill>
                  <a:schemeClr val="bg1"/>
                </a:solidFill>
              </a:rPr>
              <a:t>Bahria University, Islamabad</a:t>
            </a:r>
          </a:p>
          <a:p>
            <a:pPr eaLnBrk="1" hangingPunct="1"/>
            <a:r>
              <a:rPr lang="en-US" dirty="0">
                <a:hlinkClick r:id="rId3"/>
              </a:rPr>
              <a:t>BibiAmna.buic@bahria.edu.pk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5545FCF8-D503-9A5A-06C9-3BCED8191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25" y="277813"/>
            <a:ext cx="9779000" cy="1495425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Assessment Methods and Weightage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776690CA-24B5-83DA-E95E-E8C6702E1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676525"/>
            <a:ext cx="4491038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b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2pPr marL="685800" indent="-28257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Franklin Gothic Book" panose="020B0503020102020204" pitchFamily="34" charset="0"/>
              </a:defRPr>
            </a:lvl2pPr>
            <a:lvl3pPr marL="1143000" indent="-28257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Franklin Gothic Book" panose="020B0503020102020204" pitchFamily="34" charset="0"/>
              </a:defRPr>
            </a:lvl3pPr>
            <a:lvl4pPr marL="1600200" indent="-28257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Franklin Gothic Book" panose="020B0503020102020204" pitchFamily="34" charset="0"/>
              </a:defRPr>
            </a:lvl4pPr>
            <a:lvl5pPr marL="2057400" indent="-28257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Franklin Gothic Book" panose="020B0503020102020204" pitchFamily="34" charset="0"/>
              </a:defRPr>
            </a:lvl5pPr>
            <a:lvl6pPr marL="2514600" indent="-28257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Franklin Gothic Book" panose="020B0503020102020204" pitchFamily="34" charset="0"/>
              </a:defRPr>
            </a:lvl6pPr>
            <a:lvl7pPr marL="2971800" indent="-28257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Franklin Gothic Book" panose="020B0503020102020204" pitchFamily="34" charset="0"/>
              </a:defRPr>
            </a:lvl7pPr>
            <a:lvl8pPr marL="3429000" indent="-28257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Franklin Gothic Book" panose="020B0503020102020204" pitchFamily="34" charset="0"/>
              </a:defRPr>
            </a:lvl8pPr>
            <a:lvl9pPr marL="3886200" indent="-28257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US" altLang="en-PK" sz="2000" dirty="0"/>
              <a:t>Quizzes	10</a:t>
            </a:r>
          </a:p>
          <a:p>
            <a:pPr eaLnBrk="1" hangingPunct="1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US" altLang="en-PK" sz="2000" dirty="0"/>
              <a:t>Assignments 	10</a:t>
            </a:r>
          </a:p>
          <a:p>
            <a:pPr eaLnBrk="1" hangingPunct="1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US" altLang="en-PK" sz="2000" dirty="0"/>
              <a:t>Presentation 	10</a:t>
            </a:r>
          </a:p>
          <a:p>
            <a:pPr eaLnBrk="1" hangingPunct="1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US" altLang="en-PK" sz="2000" dirty="0"/>
              <a:t>Mid-Term Examination 	20</a:t>
            </a:r>
          </a:p>
          <a:p>
            <a:pPr eaLnBrk="1" hangingPunct="1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US" altLang="en-PK" sz="2000" dirty="0"/>
              <a:t>Final Examination	50</a:t>
            </a:r>
          </a:p>
          <a:p>
            <a:pPr eaLnBrk="1" hangingPunct="1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US" altLang="en-PK" sz="2000" b="1" dirty="0"/>
              <a:t>Total 	100</a:t>
            </a:r>
          </a:p>
        </p:txBody>
      </p:sp>
      <p:pic>
        <p:nvPicPr>
          <p:cNvPr id="19460" name="Picture 38" descr="Hand holding a pen shading number on a sheet">
            <a:extLst>
              <a:ext uri="{FF2B5EF4-FFF2-40B4-BE49-F238E27FC236}">
                <a16:creationId xmlns:a16="http://schemas.microsoft.com/office/drawing/2014/main" id="{9E09FD29-D72E-2FF6-B03F-C8D1AD670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3" r="2" b="2"/>
          <a:stretch>
            <a:fillRect/>
          </a:stretch>
        </p:blipFill>
        <p:spPr bwMode="auto">
          <a:xfrm>
            <a:off x="5881688" y="2676525"/>
            <a:ext cx="4491037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Slide Number Placeholder 3">
            <a:extLst>
              <a:ext uri="{FF2B5EF4-FFF2-40B4-BE49-F238E27FC236}">
                <a16:creationId xmlns:a16="http://schemas.microsoft.com/office/drawing/2014/main" id="{ED4DA358-F087-F893-26E6-4D16782BDAE9}"/>
              </a:ext>
            </a:extLst>
          </p:cNvPr>
          <p:cNvSpPr>
            <a:spLocks noGrp="1" noChangeArrowheads="1"/>
          </p:cNvSpPr>
          <p:nvPr>
            <p:ph type="sldNum" sz="quarter" idx="17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FCD9FC1C-B72B-4EF7-8AF3-E591A3F888C2}" type="slidenum">
              <a:rPr lang="en-US" altLang="en-PK">
                <a:solidFill>
                  <a:schemeClr val="bg1"/>
                </a:solidFill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2</a:t>
            </a:fld>
            <a:endParaRPr lang="en-US" altLang="en-PK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9697A-B068-2E77-141D-C8A3F7CB4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25" y="277813"/>
            <a:ext cx="9779000" cy="14954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Learning Material</a:t>
            </a:r>
            <a:endParaRPr lang="en-PK" dirty="0"/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87D53CB1-390A-9077-758B-8334C4568DD2}"/>
              </a:ext>
            </a:extLst>
          </p:cNvPr>
          <p:cNvSpPr>
            <a:spLocks noGrp="1" noChangeArrowheads="1"/>
          </p:cNvSpPr>
          <p:nvPr>
            <p:ph sz="quarter" idx="15"/>
          </p:nvPr>
        </p:nvSpPr>
        <p:spPr>
          <a:xfrm>
            <a:off x="593725" y="2676525"/>
            <a:ext cx="8604250" cy="35972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PK"/>
              <a:t>Software Quality Assurance: From theory to Implementation by Daniel Galin, 2004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PK"/>
              <a:t>Software Quality Engineering A Practitioner’s Approach by Witold Suryn, Published Wiley, 2014.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PK"/>
              <a:t>Software Quality Assurance: Principles and Practice by Nina S. Godbole -, 2004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PK"/>
              <a:t>Achieving Software Quality through Teamwork by Isabel Evans, 2004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PK" altLang="en-PK"/>
          </a:p>
        </p:txBody>
      </p:sp>
      <p:sp>
        <p:nvSpPr>
          <p:cNvPr id="20484" name="Slide Number Placeholder 4">
            <a:extLst>
              <a:ext uri="{FF2B5EF4-FFF2-40B4-BE49-F238E27FC236}">
                <a16:creationId xmlns:a16="http://schemas.microsoft.com/office/drawing/2014/main" id="{79F90873-7CBA-E76A-0757-E6F39DA2033F}"/>
              </a:ext>
            </a:extLst>
          </p:cNvPr>
          <p:cNvSpPr>
            <a:spLocks noGrp="1" noChangeArrowheads="1"/>
          </p:cNvSpPr>
          <p:nvPr>
            <p:ph type="sldNum" sz="quarter" idx="17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9316701-855E-4C72-920E-57BA03C438E8}" type="slidenum">
              <a:rPr lang="en-US" altLang="en-PK">
                <a:solidFill>
                  <a:schemeClr val="bg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PK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3BC0-E956-181E-C2D5-D71EEDDA8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0775" y="4662488"/>
            <a:ext cx="7937500" cy="1379537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Software Quality Assurance</a:t>
            </a:r>
          </a:p>
        </p:txBody>
      </p:sp>
      <p:sp>
        <p:nvSpPr>
          <p:cNvPr id="21507" name="TextBox 3">
            <a:extLst>
              <a:ext uri="{FF2B5EF4-FFF2-40B4-BE49-F238E27FC236}">
                <a16:creationId xmlns:a16="http://schemas.microsoft.com/office/drawing/2014/main" id="{88743E4D-4833-4BFB-E27E-37B0410AF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584200"/>
            <a:ext cx="2825750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74320"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en-US" altLang="en-PK" sz="4000" b="1">
                <a:solidFill>
                  <a:schemeClr val="bg1"/>
                </a:solidFill>
              </a:rPr>
              <a:t>Lecture 1</a:t>
            </a:r>
          </a:p>
        </p:txBody>
      </p:sp>
      <p:sp>
        <p:nvSpPr>
          <p:cNvPr id="21508" name="Slide Number Placeholder 4">
            <a:extLst>
              <a:ext uri="{FF2B5EF4-FFF2-40B4-BE49-F238E27FC236}">
                <a16:creationId xmlns:a16="http://schemas.microsoft.com/office/drawing/2014/main" id="{E53ECBBC-796E-05A2-EDBF-838346CCB672}"/>
              </a:ext>
            </a:extLst>
          </p:cNvPr>
          <p:cNvSpPr>
            <a:spLocks noGrp="1" noChangeArrowheads="1"/>
          </p:cNvSpPr>
          <p:nvPr>
            <p:ph type="sldNum" sz="quarter" idx="1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79634A2C-43CE-472C-8812-8EA2E6343240}" type="slidenum">
              <a:rPr lang="en-US" altLang="en-PK">
                <a:solidFill>
                  <a:schemeClr val="bg1"/>
                </a:solidFill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4</a:t>
            </a:fld>
            <a:endParaRPr lang="en-US" altLang="en-PK">
              <a:solidFill>
                <a:schemeClr val="bg1"/>
              </a:solidFill>
            </a:endParaRP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42B5A57F-2823-201B-165D-F8F29C12E26B}"/>
              </a:ext>
            </a:extLst>
          </p:cNvPr>
          <p:cNvGraphicFramePr/>
          <p:nvPr/>
        </p:nvGraphicFramePr>
        <p:xfrm>
          <a:off x="3670934" y="584005"/>
          <a:ext cx="7926705" cy="3999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1510" name="TextBox 4">
            <a:extLst>
              <a:ext uri="{FF2B5EF4-FFF2-40B4-BE49-F238E27FC236}">
                <a16:creationId xmlns:a16="http://schemas.microsoft.com/office/drawing/2014/main" id="{48666059-2DDA-3F11-DA1B-40668DE9A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0775" y="6456363"/>
            <a:ext cx="75455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n-US" altLang="en-PK" dirty="0">
                <a:solidFill>
                  <a:schemeClr val="bg1"/>
                </a:solidFill>
              </a:rPr>
              <a:t>By: Bibi Amna| Bahria University Islamabad | </a:t>
            </a:r>
            <a:r>
              <a:rPr lang="en-US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BibiAmna.buic@bahria.edu.pk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609600"/>
            <a:ext cx="10873740" cy="1295400"/>
          </a:xfrm>
        </p:spPr>
        <p:txBody>
          <a:bodyPr/>
          <a:lstStyle/>
          <a:p>
            <a:r>
              <a:rPr lang="en-US" sz="3600" dirty="0"/>
              <a:t>You are the QA lead. A release is scheduled for tonight.</a:t>
            </a:r>
            <a:br>
              <a:rPr lang="en-US" sz="3600" dirty="0"/>
            </a:br>
            <a:r>
              <a:rPr lang="en-US" sz="2000" dirty="0">
                <a:latin typeface="Aptos"/>
                <a:ea typeface="+mn-ea"/>
                <a:cs typeface="+mn-cs"/>
              </a:rPr>
              <a:t>Would you approve the release?  YES / 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ptos"/>
              </a:rPr>
              <a:t>Release status</a:t>
            </a:r>
          </a:p>
          <a:p>
            <a:pPr marL="0" indent="0">
              <a:buNone/>
            </a:pPr>
            <a:r>
              <a:rPr lang="en-US" dirty="0">
                <a:latin typeface="Aptos"/>
              </a:rPr>
              <a:t>Core features </a:t>
            </a:r>
            <a:r>
              <a:rPr lang="en-US" dirty="0" smtClean="0">
                <a:latin typeface="Aptos"/>
              </a:rPr>
              <a:t>pass</a:t>
            </a:r>
          </a:p>
          <a:p>
            <a:r>
              <a:rPr lang="en-US" dirty="0" smtClean="0">
                <a:latin typeface="Aptos"/>
              </a:rPr>
              <a:t>Client wants release tonight
8 unresolved defects
Code coverage: 65%
Performance test incomplete
Requirements changed yesterday</a:t>
            </a:r>
            <a:endParaRPr lang="en-US" dirty="0">
              <a:latin typeface="Apto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1E463ADF-9569-4435-995A-4B4E0CAF69B0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992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1E463ADF-9569-4435-995A-4B4E0CAF69B0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93725" y="692259"/>
            <a:ext cx="1097280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 dirty="0">
                <a:solidFill>
                  <a:schemeClr val="bg1"/>
                </a:solidFill>
                <a:latin typeface="Aptos"/>
              </a:rPr>
              <a:t>What Do We Mean by Software Quality?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312" y="2341447"/>
            <a:ext cx="3657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chemeClr val="bg1"/>
                </a:solidFill>
                <a:latin typeface="Aptos"/>
              </a:rPr>
              <a:t>Software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312" y="2977062"/>
            <a:ext cx="402336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>
                <a:solidFill>
                  <a:schemeClr val="bg1"/>
                </a:solidFill>
                <a:latin typeface="Aptos"/>
              </a:rPr>
              <a:t>How well the software meets its requirements
and satisfies its intended users.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21680" y="2200275"/>
            <a:ext cx="73152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22848" y="2341447"/>
            <a:ext cx="24688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chemeClr val="bg1"/>
                </a:solidFill>
                <a:latin typeface="Aptos"/>
              </a:rPr>
              <a:t>Correctness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2848" y="2679664"/>
            <a:ext cx="246888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dirty="0">
                <a:solidFill>
                  <a:schemeClr val="bg1"/>
                </a:solidFill>
                <a:latin typeface="Aptos"/>
              </a:rPr>
              <a:t>Does it produce the right results?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22080" y="2200275"/>
            <a:ext cx="73152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23248" y="2341447"/>
            <a:ext cx="24688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chemeClr val="bg1"/>
                </a:solidFill>
                <a:latin typeface="Aptos"/>
              </a:rPr>
              <a:t>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3248" y="2679663"/>
            <a:ext cx="246888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chemeClr val="bg1"/>
                </a:solidFill>
                <a:latin typeface="Aptos"/>
              </a:rPr>
              <a:t>Does it keep working?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21680" y="3709035"/>
            <a:ext cx="73152" cy="1234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22848" y="3850207"/>
            <a:ext cx="24688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chemeClr val="bg1"/>
                </a:solidFill>
                <a:latin typeface="Aptos"/>
              </a:rPr>
              <a:t>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2848" y="4188422"/>
            <a:ext cx="246888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dirty="0">
                <a:solidFill>
                  <a:schemeClr val="bg1"/>
                </a:solidFill>
                <a:latin typeface="Aptos"/>
              </a:rPr>
              <a:t>Is it fast and efficient?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22080" y="3709035"/>
            <a:ext cx="73152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23248" y="3850207"/>
            <a:ext cx="24688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chemeClr val="bg1"/>
                </a:solidFill>
                <a:latin typeface="Aptos"/>
              </a:rP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3248" y="4188423"/>
            <a:ext cx="246888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chemeClr val="bg1"/>
                </a:solidFill>
                <a:latin typeface="Aptos"/>
              </a:rPr>
              <a:t>Is it protected from threats?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21680" y="5217795"/>
            <a:ext cx="73152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22848" y="5358966"/>
            <a:ext cx="24688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chemeClr val="bg1"/>
                </a:solidFill>
                <a:latin typeface="Aptos"/>
              </a:rPr>
              <a:t>Usability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22848" y="5697181"/>
            <a:ext cx="246888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chemeClr val="bg1"/>
                </a:solidFill>
                <a:latin typeface="Aptos"/>
              </a:rPr>
              <a:t>Can users use it effectively?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22080" y="5217795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223248" y="5358966"/>
            <a:ext cx="24688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chemeClr val="bg1"/>
                </a:solidFill>
                <a:latin typeface="Aptos"/>
              </a:rPr>
              <a:t>Maintainability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3248" y="5697182"/>
            <a:ext cx="246888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chemeClr val="bg1"/>
                </a:solidFill>
                <a:latin typeface="Aptos"/>
              </a:rPr>
              <a:t>Can it be changed safely?</a:t>
            </a:r>
          </a:p>
        </p:txBody>
      </p:sp>
    </p:spTree>
    <p:extLst>
      <p:ext uri="{BB962C8B-B14F-4D97-AF65-F5344CB8AC3E}">
        <p14:creationId xmlns:p14="http://schemas.microsoft.com/office/powerpoint/2010/main" val="2648947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1E463ADF-9569-4435-995A-4B4E0CAF69B0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355610"/>
            <a:ext cx="10972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chemeClr val="bg1"/>
                </a:solidFill>
                <a:latin typeface="Aptos"/>
              </a:rPr>
              <a:t>Quality Is Not the Same as “No Bugs”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4754880" cy="3383280"/>
          </a:xfrm>
          <a:prstGeom prst="roundRect">
            <a:avLst/>
          </a:prstGeom>
          <a:noFill/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73152" cy="3383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1665320"/>
            <a:ext cx="43891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Aptos"/>
              </a:rPr>
              <a:t>Application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85459"/>
            <a:ext cx="4389120" cy="212365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dirty="0">
                <a:solidFill>
                  <a:schemeClr val="bg1"/>
                </a:solidFill>
                <a:latin typeface="Aptos"/>
              </a:rPr>
              <a:t>Beautiful interface
Very fast
Easy to use
BUT: occasionally loses customer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08760"/>
            <a:ext cx="4754880" cy="3383280"/>
          </a:xfrm>
          <a:prstGeom prst="roundRect">
            <a:avLst/>
          </a:prstGeom>
          <a:noFill/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852160" y="1508760"/>
            <a:ext cx="73152" cy="3383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53328" y="1665320"/>
            <a:ext cx="43891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Aptos"/>
              </a:rPr>
              <a:t>Application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554736"/>
            <a:ext cx="4389120" cy="178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dirty="0">
                <a:solidFill>
                  <a:schemeClr val="bg1"/>
                </a:solidFill>
                <a:latin typeface="Aptos"/>
              </a:rPr>
              <a:t>Simple interface
Slightly slower
Reliable data handling
BUT: users need training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754880"/>
            <a:ext cx="1325880" cy="34747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4793239"/>
            <a:ext cx="13258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chemeClr val="bg1"/>
                </a:solidFill>
                <a:latin typeface="Aptos"/>
              </a:rPr>
              <a:t>DISCUSS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46507"/>
            <a:ext cx="1024128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dirty="0">
                <a:solidFill>
                  <a:schemeClr val="bg1"/>
                </a:solidFill>
                <a:latin typeface="Aptos"/>
              </a:rPr>
              <a:t>Which application has “better quality”? What additional evidence do you need?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9875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dirty="0">
                <a:solidFill>
                  <a:schemeClr val="bg1"/>
                </a:solidFill>
                <a:latin typeface="Aptos"/>
              </a:rPr>
              <a:t>Software Quality Assurance  •  </a:t>
            </a:r>
            <a:r>
              <a:rPr sz="900" b="0" dirty="0" err="1" smtClean="0">
                <a:solidFill>
                  <a:schemeClr val="bg1"/>
                </a:solidFill>
                <a:latin typeface="Aptos"/>
              </a:rPr>
              <a:t>ecture</a:t>
            </a:r>
            <a:r>
              <a:rPr sz="900" b="0" dirty="0" smtClean="0">
                <a:solidFill>
                  <a:schemeClr val="bg1"/>
                </a:solidFill>
                <a:latin typeface="Aptos"/>
              </a:rPr>
              <a:t> </a:t>
            </a:r>
            <a:r>
              <a:rPr sz="900" b="0" dirty="0">
                <a:solidFill>
                  <a:schemeClr val="bg1"/>
                </a:solidFill>
                <a:latin typeface="Aptos"/>
              </a:rPr>
              <a:t>1  |  Bibi Amna</a:t>
            </a:r>
          </a:p>
        </p:txBody>
      </p:sp>
    </p:spTree>
    <p:extLst>
      <p:ext uri="{BB962C8B-B14F-4D97-AF65-F5344CB8AC3E}">
        <p14:creationId xmlns:p14="http://schemas.microsoft.com/office/powerpoint/2010/main" val="172404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1E463ADF-9569-4435-995A-4B4E0CAF69B0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355610"/>
            <a:ext cx="10972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chemeClr val="bg1"/>
                </a:solidFill>
                <a:latin typeface="Aptos"/>
              </a:rPr>
              <a:t>Software Quality 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166360" cy="1143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1389215"/>
            <a:ext cx="5202936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>
                <a:solidFill>
                  <a:schemeClr val="bg1"/>
                </a:solidFill>
                <a:latin typeface="Aptos"/>
              </a:rPr>
              <a:t>Rapid development &amp; time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51042"/>
            <a:ext cx="5093208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dirty="0">
                <a:solidFill>
                  <a:schemeClr val="bg1"/>
                </a:solidFill>
                <a:latin typeface="Aptos"/>
              </a:rPr>
              <a:t>Speed can push teams to cut quality activities.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166360" cy="1143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73152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19088" y="1558492"/>
            <a:ext cx="48006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chemeClr val="bg1"/>
                </a:solidFill>
                <a:latin typeface="Aptos"/>
              </a:rPr>
              <a:t>System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81765"/>
            <a:ext cx="48006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>
                <a:solidFill>
                  <a:schemeClr val="bg1"/>
                </a:solidFill>
                <a:latin typeface="Aptos"/>
              </a:rPr>
              <a:t>Dependencies and integrations increase failure possibilities.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34640"/>
            <a:ext cx="5166360" cy="1143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2834640"/>
            <a:ext cx="73152" cy="1143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6968" y="2975812"/>
            <a:ext cx="48006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chemeClr val="bg1"/>
                </a:solidFill>
                <a:latin typeface="Aptos"/>
              </a:rPr>
              <a:t>Lack of proper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299085"/>
            <a:ext cx="48006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chemeClr val="bg1"/>
                </a:solidFill>
                <a:latin typeface="Aptos"/>
              </a:rPr>
              <a:t>Insufficient coverage leaves defects undetected.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34640"/>
            <a:ext cx="5166360" cy="1143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17920" y="2834640"/>
            <a:ext cx="73152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19088" y="2975812"/>
            <a:ext cx="48006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>
                <a:solidFill>
                  <a:schemeClr val="bg1"/>
                </a:solidFill>
                <a:latin typeface="Aptos"/>
              </a:rPr>
              <a:t>Changing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299085"/>
            <a:ext cx="48006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chemeClr val="bg1"/>
                </a:solidFill>
                <a:latin typeface="Aptos"/>
              </a:rPr>
              <a:t>Frequent changes can invalidate assumptions and tests.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251960"/>
            <a:ext cx="5166360" cy="1143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85800" y="4251960"/>
            <a:ext cx="73152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6968" y="4393132"/>
            <a:ext cx="48006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chemeClr val="bg1"/>
                </a:solidFill>
                <a:latin typeface="Aptos"/>
              </a:rPr>
              <a:t>Resource constraints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716405"/>
            <a:ext cx="48006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chemeClr val="bg1"/>
                </a:solidFill>
                <a:latin typeface="Aptos"/>
              </a:rPr>
              <a:t>Limited time, budget or skilled people affect quality.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4652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dirty="0">
                <a:solidFill>
                  <a:schemeClr val="bg1"/>
                </a:solidFill>
                <a:latin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268987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4CA76-5D25-B17C-468B-5C79223E2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25" y="103188"/>
            <a:ext cx="10874375" cy="167957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How to Overcome These Challenges:</a:t>
            </a:r>
            <a:endParaRPr lang="en-PK" dirty="0"/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76708719-65CA-0606-C3FC-108CBD260D3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030413" y="2506663"/>
            <a:ext cx="7810500" cy="3484562"/>
          </a:xfrm>
        </p:spPr>
        <p:txBody>
          <a:bodyPr/>
          <a:lstStyle/>
          <a:p>
            <a:pPr lvl="1" indent="-282575"/>
            <a:r>
              <a:rPr lang="en-US" altLang="en-PK" b="1" dirty="0"/>
              <a:t>Agile &amp; DevOps Practices: </a:t>
            </a:r>
            <a:r>
              <a:rPr lang="en-US" altLang="en-PK" dirty="0"/>
              <a:t>Frequent iterations and continuous integration help maintain quality.</a:t>
            </a:r>
          </a:p>
          <a:p>
            <a:pPr lvl="1" indent="-282575"/>
            <a:r>
              <a:rPr lang="en-US" altLang="en-PK" b="1" dirty="0"/>
              <a:t>Automated Testing: </a:t>
            </a:r>
            <a:r>
              <a:rPr lang="en-US" altLang="en-PK" dirty="0"/>
              <a:t>Helps detect defects early and speeds up the development process.</a:t>
            </a:r>
          </a:p>
          <a:p>
            <a:pPr lvl="1" indent="-282575"/>
            <a:r>
              <a:rPr lang="en-US" altLang="en-PK" b="1" dirty="0"/>
              <a:t>CI/CD (Continuous Integration &amp; Continuous Deployment): </a:t>
            </a:r>
            <a:r>
              <a:rPr lang="en-US" altLang="en-PK" dirty="0"/>
              <a:t>Ensures regular updates with minimal defects.</a:t>
            </a:r>
          </a:p>
          <a:p>
            <a:pPr lvl="1" indent="-282575"/>
            <a:r>
              <a:rPr lang="en-US" altLang="en-PK" b="1" dirty="0"/>
              <a:t>Adopting Standard Quality Frameworks: </a:t>
            </a:r>
            <a:r>
              <a:rPr lang="en-US" altLang="en-PK" dirty="0"/>
              <a:t>Implementing ISO 9001, CMMI, or Six Sigma to maintain high standards.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K" altLang="en-PK" dirty="0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A28E0A2D-4592-B60F-3554-F5CECC47FDDB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C894F76-D7F6-4B57-A935-65EC8E0324F9}" type="slidenum">
              <a:rPr lang="en-US" altLang="en-PK">
                <a:solidFill>
                  <a:schemeClr val="bg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PK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3DC26-7BB5-F063-E672-D132003B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Objectives of SQA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1E40D-9C5A-E85A-6402-9D94048755E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10255610" cy="3546854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PK" sz="2400" b="1" dirty="0"/>
              <a:t>Development:</a:t>
            </a:r>
          </a:p>
          <a:p>
            <a:pPr marL="626364" lvl="1" indent="-342900"/>
            <a:r>
              <a:rPr lang="en-US" altLang="en-PK" sz="2400" dirty="0"/>
              <a:t>Assuring an acceptable level of confidence that the software will conform to </a:t>
            </a:r>
            <a:r>
              <a:rPr lang="en-US" altLang="en-PK" sz="2400" b="1" dirty="0"/>
              <a:t>functional technical requirements</a:t>
            </a:r>
            <a:r>
              <a:rPr lang="en-US" altLang="en-PK" sz="2400" dirty="0"/>
              <a:t>.</a:t>
            </a:r>
          </a:p>
          <a:p>
            <a:pPr marL="626364" lvl="1" indent="-342900"/>
            <a:r>
              <a:rPr lang="en-US" altLang="en-PK" sz="2400" dirty="0"/>
              <a:t>Assuring an acceptable level of confidence that the software will conform to </a:t>
            </a:r>
            <a:r>
              <a:rPr lang="en-US" altLang="en-PK" sz="2400" b="1" dirty="0"/>
              <a:t>managerial scheduling</a:t>
            </a:r>
            <a:r>
              <a:rPr lang="en-US" altLang="en-PK" sz="2400" dirty="0"/>
              <a:t> and </a:t>
            </a:r>
            <a:r>
              <a:rPr lang="en-US" altLang="en-PK" sz="2400" b="1" dirty="0"/>
              <a:t>budgetary requirements</a:t>
            </a:r>
            <a:r>
              <a:rPr lang="en-US" altLang="en-PK" sz="2400" dirty="0"/>
              <a:t>.</a:t>
            </a:r>
          </a:p>
          <a:p>
            <a:pPr marL="626364" lvl="1" indent="-342900"/>
            <a:r>
              <a:rPr lang="en-US" altLang="en-PK" sz="2400" dirty="0"/>
              <a:t>Initiation and management of activities for the improvement and greater efficiency of software development and SQA activities.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2BF1B-4833-6D72-36AF-0614F04524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3A229E67-F894-41F5-8BBA-B08049F66090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377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956BA-421F-067F-9E2E-BA1C5CF90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Cont.…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B2FE0-8F8D-99A0-A4A4-2703C285125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10119133" cy="359747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PK" sz="2400" b="1" dirty="0"/>
              <a:t>Maintenance:</a:t>
            </a:r>
          </a:p>
          <a:p>
            <a:pPr marL="626364" lvl="1" indent="-342900"/>
            <a:r>
              <a:rPr lang="en-US" altLang="en-PK" sz="2400" dirty="0"/>
              <a:t>Assuring an acceptable level of confidence that </a:t>
            </a:r>
            <a:r>
              <a:rPr lang="en-US" altLang="en-PK" sz="2400" b="1" dirty="0"/>
              <a:t>the software maintenance activities </a:t>
            </a:r>
            <a:r>
              <a:rPr lang="en-US" altLang="en-PK" sz="2400" dirty="0"/>
              <a:t>will conform to the </a:t>
            </a:r>
            <a:r>
              <a:rPr lang="en-US" altLang="en-PK" sz="2400" b="1" dirty="0"/>
              <a:t>functional technical requirements.</a:t>
            </a:r>
          </a:p>
          <a:p>
            <a:pPr marL="626364" lvl="1" indent="-342900"/>
            <a:r>
              <a:rPr lang="en-US" altLang="en-PK" sz="2400" dirty="0" smtClean="0"/>
              <a:t>Assuring </a:t>
            </a:r>
            <a:r>
              <a:rPr lang="en-US" altLang="en-PK" sz="2400" dirty="0"/>
              <a:t>an acceptable level of confidence that the software maintenance activities will conform to </a:t>
            </a:r>
            <a:r>
              <a:rPr lang="en-US" altLang="en-PK" sz="2400" b="1" dirty="0"/>
              <a:t>managerial scheduling and budgetary requirements.</a:t>
            </a:r>
          </a:p>
          <a:p>
            <a:pPr marL="626364" lvl="1" indent="-342900"/>
            <a:r>
              <a:rPr lang="en-US" altLang="en-PK" sz="2400" dirty="0"/>
              <a:t>Initiate and manage activities to improve and increase the efficiency of software maintenance and SQA activities.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B4DCE-6CCE-4A8F-8DCF-C7FE817CB56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3A229E67-F894-41F5-8BBA-B08049F66090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248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3A229E67-F894-41F5-8BBA-B08049F66090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94360" y="355610"/>
            <a:ext cx="10972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chemeClr val="bg1"/>
                </a:solidFill>
                <a:latin typeface="Aptos"/>
              </a:rPr>
              <a:t>Decision Scenario: When Is a Project “Successful”?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2514600" cy="2286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73152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7" y="1810512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chemeClr val="bg1"/>
                </a:solidFill>
                <a:latin typeface="Aptos"/>
              </a:rPr>
              <a:t>Scenario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743420"/>
            <a:ext cx="214884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  <a:latin typeface="Aptos"/>
              </a:rPr>
              <a:t>Correct software
6 months 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645920"/>
            <a:ext cx="2514600" cy="2286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74720" y="1645920"/>
            <a:ext cx="73152" cy="2286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75887" y="1810512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chemeClr val="bg1"/>
                </a:solidFill>
                <a:latin typeface="Aptos"/>
              </a:rPr>
              <a:t>Scenario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743420"/>
            <a:ext cx="214884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chemeClr val="bg1"/>
                </a:solidFill>
                <a:latin typeface="Aptos"/>
              </a:rPr>
              <a:t>On time
300% over budget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45920"/>
            <a:ext cx="2514600" cy="2286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9360" y="1645920"/>
            <a:ext cx="73152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10528" y="1810512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chemeClr val="bg1"/>
                </a:solidFill>
                <a:latin typeface="Aptos"/>
              </a:rPr>
              <a:t>Scenario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743420"/>
            <a:ext cx="214884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chemeClr val="bg1"/>
                </a:solidFill>
                <a:latin typeface="Aptos"/>
              </a:rPr>
              <a:t>On time &amp; budget
Incorrect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645920"/>
            <a:ext cx="2514600" cy="2286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4000" y="1645920"/>
            <a:ext cx="73152" cy="2286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45168" y="1810512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chemeClr val="bg1"/>
                </a:solidFill>
                <a:latin typeface="Aptos"/>
              </a:rPr>
              <a:t>Scenario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620309"/>
            <a:ext cx="214884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chemeClr val="bg1"/>
                </a:solidFill>
                <a:latin typeface="Aptos"/>
              </a:rPr>
              <a:t>Meets technical + managerial expectations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069080"/>
            <a:ext cx="1325880" cy="34747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4107439"/>
            <a:ext cx="13258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chemeClr val="bg1"/>
                </a:solidFill>
                <a:latin typeface="Aptos"/>
              </a:rPr>
              <a:t>DISCUSS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60707"/>
            <a:ext cx="1024128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chemeClr val="bg1"/>
                </a:solidFill>
                <a:latin typeface="Aptos"/>
              </a:rPr>
              <a:t>Which scenario best represents successful quality assurance? Explain.</a:t>
            </a:r>
          </a:p>
        </p:txBody>
      </p:sp>
    </p:spTree>
    <p:extLst>
      <p:ext uri="{BB962C8B-B14F-4D97-AF65-F5344CB8AC3E}">
        <p14:creationId xmlns:p14="http://schemas.microsoft.com/office/powerpoint/2010/main" val="1220292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98144-1C41-5C99-0C50-E0A8584DD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Three General Principles of QA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A1DBA-A441-93D5-3DDF-3A78FBAE4D2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249451" y="2735068"/>
            <a:ext cx="9634859" cy="2839822"/>
          </a:xfrm>
        </p:spPr>
        <p:txBody>
          <a:bodyPr/>
          <a:lstStyle/>
          <a:p>
            <a:pPr marL="740664" lvl="1" indent="-457200">
              <a:buFont typeface="+mj-lt"/>
              <a:buAutoNum type="arabicPeriod"/>
            </a:pPr>
            <a:r>
              <a:rPr lang="en-US" altLang="en-PK" b="1" dirty="0"/>
              <a:t>Know what you are doing </a:t>
            </a:r>
            <a:r>
              <a:rPr lang="en-US" altLang="en-PK" dirty="0">
                <a:sym typeface="Wingdings" panose="05000000000000000000" pitchFamily="2" charset="2"/>
              </a:rPr>
              <a:t> </a:t>
            </a:r>
            <a:r>
              <a:rPr lang="en-US" dirty="0"/>
              <a:t>Understanding the development process.</a:t>
            </a:r>
            <a:endParaRPr lang="en-US" altLang="en-PK" dirty="0"/>
          </a:p>
          <a:p>
            <a:pPr marL="740664" lvl="1" indent="-457200">
              <a:buFont typeface="+mj-lt"/>
              <a:buAutoNum type="arabicPeriod"/>
            </a:pPr>
            <a:endParaRPr lang="en-US" altLang="en-PK" dirty="0"/>
          </a:p>
          <a:p>
            <a:pPr marL="740664" lvl="1" indent="-457200">
              <a:buFont typeface="+mj-lt"/>
              <a:buAutoNum type="arabicPeriod"/>
            </a:pPr>
            <a:r>
              <a:rPr lang="en-US" altLang="en-PK" b="1" dirty="0"/>
              <a:t>Know what you should be doing </a:t>
            </a:r>
            <a:r>
              <a:rPr lang="en-US" altLang="en-PK" dirty="0">
                <a:sym typeface="Wingdings" panose="05000000000000000000" pitchFamily="2" charset="2"/>
              </a:rPr>
              <a:t> </a:t>
            </a:r>
            <a:r>
              <a:rPr lang="en-US" dirty="0"/>
              <a:t>Following specifications and requirements.</a:t>
            </a:r>
            <a:endParaRPr lang="en-US" altLang="en-PK" dirty="0"/>
          </a:p>
          <a:p>
            <a:pPr marL="740664" lvl="1" indent="-457200">
              <a:buFont typeface="+mj-lt"/>
              <a:buAutoNum type="arabicPeriod"/>
            </a:pPr>
            <a:endParaRPr lang="en-US" altLang="en-PK" dirty="0"/>
          </a:p>
          <a:p>
            <a:pPr marL="740664" lvl="1" indent="-457200">
              <a:buFont typeface="+mj-lt"/>
              <a:buAutoNum type="arabicPeriod"/>
            </a:pPr>
            <a:r>
              <a:rPr lang="en-US" altLang="en-PK" b="1" dirty="0"/>
              <a:t>Know how to measure the difference </a:t>
            </a:r>
            <a:r>
              <a:rPr lang="en-US" altLang="en-PK" dirty="0">
                <a:sym typeface="Wingdings" panose="05000000000000000000" pitchFamily="2" charset="2"/>
              </a:rPr>
              <a:t> </a:t>
            </a:r>
            <a:r>
              <a:rPr lang="en-US" dirty="0"/>
              <a:t>Testing, inspections, and metrics.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0B400E-3C3B-A5C7-A3E5-B7A939FAC7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3A229E67-F894-41F5-8BBA-B08049F66090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599116" y="5760991"/>
            <a:ext cx="7768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hangingPunct="1">
              <a:spcBef>
                <a:spcPct val="30000"/>
              </a:spcBef>
              <a:defRPr/>
            </a:pPr>
            <a:r>
              <a:rPr lang="en-US" b="1" dirty="0">
                <a:solidFill>
                  <a:schemeClr val="bg1"/>
                </a:solidFill>
              </a:rPr>
              <a:t>Activity:</a:t>
            </a:r>
            <a:r>
              <a:rPr lang="en-US" dirty="0">
                <a:solidFill>
                  <a:schemeClr val="bg1"/>
                </a:solidFill>
              </a:rPr>
              <a:t> Identify a real-life scenario where each principle applies.</a:t>
            </a:r>
          </a:p>
        </p:txBody>
      </p:sp>
    </p:spTree>
    <p:extLst>
      <p:ext uri="{BB962C8B-B14F-4D97-AF65-F5344CB8AC3E}">
        <p14:creationId xmlns:p14="http://schemas.microsoft.com/office/powerpoint/2010/main" val="99590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9737E-71A6-F074-E802-273318A95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Cont.…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04C70-F2FA-5975-3EF1-E8FF25AE677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526400"/>
            <a:ext cx="9778365" cy="359747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400" b="1" u="sng" dirty="0"/>
              <a:t>Know what you are doing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sz="2400" dirty="0"/>
              <a:t>understand </a:t>
            </a:r>
            <a:r>
              <a:rPr lang="en-US" sz="2400" b="1" dirty="0"/>
              <a:t>what </a:t>
            </a:r>
            <a:r>
              <a:rPr lang="en-US" sz="2400" dirty="0"/>
              <a:t>is being built</a:t>
            </a:r>
            <a:r>
              <a:rPr lang="en-US" sz="2400" b="1" dirty="0"/>
              <a:t>, how </a:t>
            </a:r>
            <a:r>
              <a:rPr lang="en-US" sz="2400" dirty="0"/>
              <a:t>it is being built and what it currently </a:t>
            </a:r>
            <a:r>
              <a:rPr lang="en-US" sz="2400" b="1" dirty="0"/>
              <a:t>does.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sz="2400" dirty="0"/>
              <a:t>suppose a software development process with</a:t>
            </a:r>
          </a:p>
          <a:p>
            <a:pPr lvl="2">
              <a:defRPr/>
            </a:pPr>
            <a:r>
              <a:rPr lang="en-US" sz="2400" dirty="0">
                <a:ea typeface="+mn-ea"/>
                <a:cs typeface="+mn-cs"/>
              </a:rPr>
              <a:t>management structure (milestones, scheduling)</a:t>
            </a:r>
          </a:p>
          <a:p>
            <a:pPr lvl="2">
              <a:defRPr/>
            </a:pPr>
            <a:r>
              <a:rPr lang="en-US" sz="2400" dirty="0">
                <a:ea typeface="+mn-ea"/>
                <a:cs typeface="+mn-cs"/>
              </a:rPr>
              <a:t>reporting policies</a:t>
            </a:r>
          </a:p>
          <a:p>
            <a:pPr lvl="2">
              <a:defRPr/>
            </a:pPr>
            <a:r>
              <a:rPr lang="en-US" sz="2400" dirty="0">
                <a:ea typeface="+mn-ea"/>
                <a:cs typeface="+mn-cs"/>
              </a:rPr>
              <a:t>tracking</a:t>
            </a:r>
            <a:endParaRPr lang="en-US" sz="2400" dirty="0"/>
          </a:p>
          <a:p>
            <a:endParaRPr lang="en-PK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47645-979A-5BDC-B999-763500102A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3A229E67-F894-41F5-8BBA-B08049F6609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583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AEC13-1E8E-27A0-6627-8AF4821D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Example: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B210F-869D-D958-D8DC-66326486DAB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17031" y="2735068"/>
            <a:ext cx="9980234" cy="3597470"/>
          </a:xfrm>
        </p:spPr>
        <p:txBody>
          <a:bodyPr/>
          <a:lstStyle/>
          <a:p>
            <a:r>
              <a:rPr lang="en-US" sz="2400" dirty="0"/>
              <a:t>A team enhancing a </a:t>
            </a:r>
            <a:r>
              <a:rPr lang="en-US" sz="2400" b="1" dirty="0"/>
              <a:t>cloud-based CRM system</a:t>
            </a:r>
            <a:r>
              <a:rPr lang="en-US" sz="2400" dirty="0"/>
              <a:t> must:</a:t>
            </a:r>
          </a:p>
          <a:p>
            <a:pPr marL="800100" lvl="1" indent="-342900"/>
            <a:r>
              <a:rPr lang="en-US" sz="2400" dirty="0"/>
              <a:t>Understand </a:t>
            </a:r>
            <a:r>
              <a:rPr lang="en-US" sz="2400" b="1" dirty="0"/>
              <a:t>existing customer data management features</a:t>
            </a:r>
            <a:r>
              <a:rPr lang="en-US" sz="2400" dirty="0"/>
              <a:t>.</a:t>
            </a:r>
          </a:p>
          <a:p>
            <a:pPr marL="800100" lvl="1" indent="-342900"/>
            <a:r>
              <a:rPr lang="en-US" sz="2400" dirty="0"/>
              <a:t>Know that they are building a </a:t>
            </a:r>
            <a:r>
              <a:rPr lang="en-US" sz="2400" b="1" dirty="0"/>
              <a:t>predictive analytics module</a:t>
            </a:r>
            <a:r>
              <a:rPr lang="en-US" sz="2400" dirty="0"/>
              <a:t>.</a:t>
            </a:r>
          </a:p>
          <a:p>
            <a:pPr marL="800100" lvl="1" indent="-342900"/>
            <a:r>
              <a:rPr lang="en-US" sz="2400" dirty="0"/>
              <a:t>Use </a:t>
            </a:r>
            <a:r>
              <a:rPr lang="en-US" sz="2400" b="1" dirty="0"/>
              <a:t>Python, AWS, and machine learning models</a:t>
            </a:r>
            <a:r>
              <a:rPr lang="en-US" sz="2400" dirty="0"/>
              <a:t> for development.</a:t>
            </a:r>
          </a:p>
          <a:p>
            <a:endParaRPr lang="en-P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6DB4A8-0BDD-E1D0-297D-D753123305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3A229E67-F894-41F5-8BBA-B08049F66090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240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8E3AA-3906-E2EB-AE38-0394D6850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Cont.…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2F154-50A9-424D-B991-B2748F01477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9504983" cy="359747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400" b="1" u="sng" dirty="0"/>
              <a:t>Know what you should be doing</a:t>
            </a:r>
          </a:p>
          <a:p>
            <a:pPr lvl="1"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ea typeface="+mn-ea"/>
                <a:cs typeface="+mn-cs"/>
              </a:rPr>
              <a:t>having explicit </a:t>
            </a:r>
            <a:r>
              <a:rPr lang="en-US" sz="2400" b="1" dirty="0">
                <a:ea typeface="+mn-ea"/>
                <a:cs typeface="+mn-cs"/>
              </a:rPr>
              <a:t>requirements </a:t>
            </a:r>
            <a:r>
              <a:rPr lang="en-US" sz="2400" dirty="0">
                <a:ea typeface="+mn-ea"/>
                <a:cs typeface="+mn-cs"/>
              </a:rPr>
              <a:t>and </a:t>
            </a:r>
            <a:r>
              <a:rPr lang="en-US" sz="2400" b="1" dirty="0">
                <a:ea typeface="+mn-ea"/>
                <a:cs typeface="+mn-cs"/>
              </a:rPr>
              <a:t>specifications</a:t>
            </a:r>
          </a:p>
          <a:p>
            <a:pPr lvl="1"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ea typeface="+mn-ea"/>
                <a:cs typeface="+mn-cs"/>
              </a:rPr>
              <a:t>suppose a software development process with</a:t>
            </a:r>
          </a:p>
          <a:p>
            <a:pPr lvl="2" eaLnBrk="1" hangingPunct="1">
              <a:defRPr/>
            </a:pPr>
            <a:r>
              <a:rPr lang="en-US" sz="2400" dirty="0">
                <a:ea typeface="+mn-ea"/>
                <a:cs typeface="+mn-cs"/>
              </a:rPr>
              <a:t>requirements analysis,</a:t>
            </a:r>
          </a:p>
          <a:p>
            <a:pPr lvl="2" eaLnBrk="1" hangingPunct="1">
              <a:defRPr/>
            </a:pPr>
            <a:r>
              <a:rPr lang="en-US" sz="2400" dirty="0">
                <a:ea typeface="+mn-ea"/>
                <a:cs typeface="+mn-cs"/>
              </a:rPr>
              <a:t>acceptance tests,</a:t>
            </a:r>
          </a:p>
          <a:p>
            <a:pPr lvl="2" eaLnBrk="1" hangingPunct="1">
              <a:defRPr/>
            </a:pPr>
            <a:r>
              <a:rPr lang="en-US" sz="2400" dirty="0">
                <a:ea typeface="+mn-ea"/>
                <a:cs typeface="+mn-cs"/>
              </a:rPr>
              <a:t>frequent user feedback</a:t>
            </a:r>
            <a:endParaRPr lang="en-PK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4F55A-BE57-76E8-AD0C-B9507546ED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3A229E67-F894-41F5-8BBA-B08049F66090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941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FD5B-B263-DEE7-FB06-C9BDEB0A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A8FB6-0CD4-8A4A-E4AE-87B0844AF30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9257563" cy="3597470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hospital management system</a:t>
            </a:r>
            <a:r>
              <a:rPr lang="en-US" sz="2400" dirty="0"/>
              <a:t> needs: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Patient registration</a:t>
            </a:r>
            <a:r>
              <a:rPr lang="en-US" sz="2400" dirty="0"/>
              <a:t> with </a:t>
            </a:r>
            <a:r>
              <a:rPr lang="en-US" sz="2400" b="1" dirty="0"/>
              <a:t>mandatory fields</a:t>
            </a:r>
            <a:r>
              <a:rPr lang="en-US" sz="2400" dirty="0"/>
              <a:t> (Name, DOB, Medical History).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Doctor appointment scheduling</a:t>
            </a:r>
            <a:r>
              <a:rPr lang="en-US" sz="2400" dirty="0"/>
              <a:t> with a </a:t>
            </a:r>
            <a:r>
              <a:rPr lang="en-US" sz="2400" b="1" dirty="0"/>
              <a:t>calendar view</a:t>
            </a:r>
            <a:r>
              <a:rPr lang="en-US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System must process 500+ concurrent users without lag</a:t>
            </a:r>
            <a:r>
              <a:rPr lang="en-US" sz="2400" dirty="0"/>
              <a:t>.</a:t>
            </a:r>
          </a:p>
          <a:p>
            <a:endParaRPr lang="en-PK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1EA3FD-250C-DA38-D56E-5E04FDA8B8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3A229E67-F894-41F5-8BBA-B08049F66090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892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64472-B306-4E7C-8CC0-C6292F82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Cont...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BB60E-B744-1854-234A-8033FB0E9D3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3725" y="2253896"/>
            <a:ext cx="10419383" cy="4078642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200" b="1" u="sng" dirty="0"/>
              <a:t>Know how to measure the difference</a:t>
            </a:r>
          </a:p>
          <a:p>
            <a:pPr lvl="1" eaLnBrk="1" hangingPunct="1">
              <a:buFont typeface="Wingdings" panose="05000000000000000000" pitchFamily="2" charset="2"/>
              <a:buChar char="Ø"/>
              <a:defRPr/>
            </a:pPr>
            <a:r>
              <a:rPr lang="en-US" sz="2200" dirty="0">
                <a:ea typeface="+mn-ea"/>
                <a:cs typeface="+mn-cs"/>
              </a:rPr>
              <a:t>having explicit measures comparing what is being done from what should be done</a:t>
            </a:r>
          </a:p>
          <a:p>
            <a:pPr lvl="1" eaLnBrk="1" hangingPunct="1">
              <a:buFont typeface="Wingdings" panose="05000000000000000000" pitchFamily="2" charset="2"/>
              <a:buChar char="Ø"/>
              <a:defRPr/>
            </a:pPr>
            <a:r>
              <a:rPr lang="en-US" sz="2200" dirty="0">
                <a:ea typeface="+mn-ea"/>
                <a:cs typeface="+mn-cs"/>
              </a:rPr>
              <a:t>four complementary methods:</a:t>
            </a:r>
          </a:p>
          <a:p>
            <a:pPr lvl="2" eaLnBrk="1" hangingPunct="1">
              <a:defRPr/>
            </a:pPr>
            <a:r>
              <a:rPr lang="en-US" sz="2200" b="1" dirty="0"/>
              <a:t>formal methods </a:t>
            </a:r>
            <a:r>
              <a:rPr lang="en-US" sz="2200" dirty="0"/>
              <a:t>– verify mathematically specified properties</a:t>
            </a:r>
          </a:p>
          <a:p>
            <a:pPr lvl="4">
              <a:defRPr/>
            </a:pPr>
            <a:r>
              <a:rPr lang="en-US" dirty="0"/>
              <a:t>Used in </a:t>
            </a:r>
            <a:r>
              <a:rPr lang="en-US" b="1" dirty="0"/>
              <a:t>safety-critical systems</a:t>
            </a:r>
            <a:r>
              <a:rPr lang="en-US" dirty="0"/>
              <a:t> (e.g., medical devices, aerospace, nuclear reactors).</a:t>
            </a:r>
            <a:endParaRPr lang="en-US" sz="2200" dirty="0"/>
          </a:p>
          <a:p>
            <a:pPr lvl="2" eaLnBrk="1" hangingPunct="1">
              <a:defRPr/>
            </a:pPr>
            <a:r>
              <a:rPr lang="en-US" sz="2200" b="1" dirty="0"/>
              <a:t>testing</a:t>
            </a:r>
            <a:r>
              <a:rPr lang="en-US" sz="2200" dirty="0"/>
              <a:t> – explicit input to exercise software and check for expected output</a:t>
            </a:r>
          </a:p>
          <a:p>
            <a:pPr lvl="4">
              <a:defRPr/>
            </a:pPr>
            <a:r>
              <a:rPr lang="en-US" sz="2000" dirty="0"/>
              <a:t>Automated tools: </a:t>
            </a:r>
            <a:r>
              <a:rPr lang="en-US" sz="2000" b="1" dirty="0"/>
              <a:t>Selenium, Appium, Mocha,</a:t>
            </a:r>
            <a:r>
              <a:rPr lang="en-US" b="1" dirty="0"/>
              <a:t> Jenkins</a:t>
            </a:r>
            <a:r>
              <a:rPr lang="en-US" sz="2000" b="1" dirty="0"/>
              <a:t>, Cypress, Postman</a:t>
            </a:r>
            <a:r>
              <a:rPr lang="en-US" sz="2000" dirty="0"/>
              <a:t>.</a:t>
            </a:r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7D215-4620-F6A6-66EE-22AA6147810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3A229E67-F894-41F5-8BBA-B08049F66090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555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F865E-ADD8-39FB-BC28-9CB3A3EB5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EDCF6-F3CA-0C64-E8E5-CCF09942F1E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307193"/>
            <a:ext cx="9655769" cy="1494596"/>
          </a:xfrm>
        </p:spPr>
        <p:txBody>
          <a:bodyPr>
            <a:normAutofit/>
          </a:bodyPr>
          <a:lstStyle/>
          <a:p>
            <a:pPr lvl="2" eaLnBrk="1" hangingPunct="1">
              <a:defRPr/>
            </a:pPr>
            <a:r>
              <a:rPr lang="en-US" sz="2200" b="1" dirty="0"/>
              <a:t>inspections</a:t>
            </a:r>
            <a:r>
              <a:rPr lang="en-US" sz="2200" dirty="0"/>
              <a:t> – human examination of requirements, design, </a:t>
            </a:r>
            <a:r>
              <a:rPr lang="en-US" sz="2200" dirty="0" smtClean="0"/>
              <a:t>code, based </a:t>
            </a:r>
            <a:r>
              <a:rPr lang="en-US" sz="2200" dirty="0"/>
              <a:t>on checklists</a:t>
            </a:r>
          </a:p>
          <a:p>
            <a:pPr lvl="2" eaLnBrk="1" hangingPunct="1">
              <a:defRPr/>
            </a:pPr>
            <a:r>
              <a:rPr lang="en-US" sz="2200" b="1" dirty="0"/>
              <a:t>metrics</a:t>
            </a:r>
            <a:r>
              <a:rPr lang="en-US" sz="2200" dirty="0"/>
              <a:t> – measures a known set of properties related to quality.</a:t>
            </a:r>
          </a:p>
          <a:p>
            <a:pPr lvl="3">
              <a:defRPr/>
            </a:pPr>
            <a:endParaRPr lang="en-PK" sz="2200" dirty="0"/>
          </a:p>
          <a:p>
            <a:endParaRPr lang="en-PK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76FC4-5AA7-B315-58B1-DA111234FDD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3A229E67-F894-41F5-8BBA-B08049F66090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9D3280-E1A2-0E12-88CE-224F239F8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323715"/>
              </p:ext>
            </p:extLst>
          </p:nvPr>
        </p:nvGraphicFramePr>
        <p:xfrm>
          <a:off x="1688127" y="4473425"/>
          <a:ext cx="8815746" cy="16459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38582">
                  <a:extLst>
                    <a:ext uri="{9D8B030D-6E8A-4147-A177-3AD203B41FA5}">
                      <a16:colId xmlns:a16="http://schemas.microsoft.com/office/drawing/2014/main" val="2261861327"/>
                    </a:ext>
                  </a:extLst>
                </a:gridCol>
                <a:gridCol w="2938582">
                  <a:extLst>
                    <a:ext uri="{9D8B030D-6E8A-4147-A177-3AD203B41FA5}">
                      <a16:colId xmlns:a16="http://schemas.microsoft.com/office/drawing/2014/main" val="650469255"/>
                    </a:ext>
                  </a:extLst>
                </a:gridCol>
                <a:gridCol w="2938582">
                  <a:extLst>
                    <a:ext uri="{9D8B030D-6E8A-4147-A177-3AD203B41FA5}">
                      <a16:colId xmlns:a16="http://schemas.microsoft.com/office/drawing/2014/main" val="1733670505"/>
                    </a:ext>
                  </a:extLst>
                </a:gridCol>
              </a:tblGrid>
              <a:tr h="24798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9873338"/>
                  </a:ext>
                </a:extLst>
              </a:tr>
              <a:tr h="43396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Defect Density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Bugs per 1,000 lines of code (KLOC)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2 defects/KLOC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7534515"/>
                  </a:ext>
                </a:extLst>
              </a:tr>
              <a:tr h="433964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Code Coverage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% of code tested by automated tests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85% coverage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8425485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189E944C-8D3F-9BA4-C49F-A56034D63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4947" y="3801789"/>
            <a:ext cx="39421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Common Software Quality Metrics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109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3AD1-2648-B40E-AB71-2D804A0A3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25" y="974092"/>
            <a:ext cx="9778365" cy="1494596"/>
          </a:xfrm>
        </p:spPr>
        <p:txBody>
          <a:bodyPr/>
          <a:lstStyle/>
          <a:p>
            <a:r>
              <a:rPr kumimoji="0" lang="en-PK" altLang="en-PK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Common Software Quality Metrics</a:t>
            </a:r>
            <a:r>
              <a:rPr kumimoji="0" lang="en-PK" altLang="en-PK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PK" altLang="en-PK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lang="en-P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1CBFD15-24E5-4973-E15E-AE957DA7CEED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3337289413"/>
              </p:ext>
            </p:extLst>
          </p:nvPr>
        </p:nvGraphicFramePr>
        <p:xfrm>
          <a:off x="1688127" y="2661776"/>
          <a:ext cx="8815746" cy="322213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38582">
                  <a:extLst>
                    <a:ext uri="{9D8B030D-6E8A-4147-A177-3AD203B41FA5}">
                      <a16:colId xmlns:a16="http://schemas.microsoft.com/office/drawing/2014/main" val="2651291836"/>
                    </a:ext>
                  </a:extLst>
                </a:gridCol>
                <a:gridCol w="2938582">
                  <a:extLst>
                    <a:ext uri="{9D8B030D-6E8A-4147-A177-3AD203B41FA5}">
                      <a16:colId xmlns:a16="http://schemas.microsoft.com/office/drawing/2014/main" val="819339731"/>
                    </a:ext>
                  </a:extLst>
                </a:gridCol>
                <a:gridCol w="2938582">
                  <a:extLst>
                    <a:ext uri="{9D8B030D-6E8A-4147-A177-3AD203B41FA5}">
                      <a16:colId xmlns:a16="http://schemas.microsoft.com/office/drawing/2014/main" val="218459652"/>
                    </a:ext>
                  </a:extLst>
                </a:gridCol>
              </a:tblGrid>
              <a:tr h="43396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6390346"/>
                  </a:ext>
                </a:extLst>
              </a:tr>
              <a:tr h="43396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Mean Time to Failure (MTTF)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Average time before a failure occurs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50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6456685"/>
                  </a:ext>
                </a:extLst>
              </a:tr>
              <a:tr h="433964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Mean Time to Repair (MTTR)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Average time to fix a 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588319"/>
                  </a:ext>
                </a:extLst>
              </a:tr>
              <a:tr h="61994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Cyclomatic Complexity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Measures code complexity (high = hard to maintain)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15 (moderate)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279463"/>
                  </a:ext>
                </a:extLst>
              </a:tr>
              <a:tr h="433964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Customer-Reported Defects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Bugs found after release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10/month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2140"/>
                  </a:ext>
                </a:extLst>
              </a:tr>
              <a:tr h="43396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Performance Metrics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Response time, memory usage, load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Page loads in 2 sec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82316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CE9C7-A572-4743-4439-D7AADA3A643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3A229E67-F894-41F5-8BBA-B08049F66090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581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8EFD7-74B2-8D1D-028B-08BC7F364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Activity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0DCCB-F958-6450-8F6A-4820B8FE036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9464040" cy="1084314"/>
          </a:xfrm>
        </p:spPr>
        <p:txBody>
          <a:bodyPr>
            <a:normAutofit/>
          </a:bodyPr>
          <a:lstStyle/>
          <a:p>
            <a:r>
              <a:rPr lang="en-US" sz="2400" dirty="0"/>
              <a:t>A new social media app is launching in 3 months. What SQA challenges might they face? How would you ensure quality?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732A7-42A4-B3CD-E94C-2D992DF8A2F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3A229E67-F894-41F5-8BBA-B08049F66090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10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E0E18-9BD9-34DA-FA7F-C3BEAC3B7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25" y="1025426"/>
            <a:ext cx="9778365" cy="902570"/>
          </a:xfrm>
        </p:spPr>
        <p:txBody>
          <a:bodyPr/>
          <a:lstStyle/>
          <a:p>
            <a:r>
              <a:rPr lang="en-US" dirty="0"/>
              <a:t>Software Failures Case Studies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DD58A-6235-31CC-D67E-BA3B0FDF4C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56057" y="4372476"/>
            <a:ext cx="10879885" cy="2121174"/>
          </a:xfrm>
        </p:spPr>
        <p:txBody>
          <a:bodyPr>
            <a:noAutofit/>
          </a:bodyPr>
          <a:lstStyle/>
          <a:p>
            <a:pPr algn="ctr"/>
            <a:r>
              <a:rPr lang="en-US" sz="2200" b="1" dirty="0"/>
              <a:t>Discussion Questions:</a:t>
            </a:r>
            <a:endParaRPr lang="en-US" sz="2200" dirty="0"/>
          </a:p>
          <a:p>
            <a:pPr>
              <a:buFont typeface="+mj-lt"/>
              <a:buAutoNum type="arabicPeriod"/>
            </a:pPr>
            <a:r>
              <a:rPr lang="en-US" sz="2200" dirty="0"/>
              <a:t> Cause</a:t>
            </a:r>
          </a:p>
          <a:p>
            <a:pPr>
              <a:buFont typeface="+mj-lt"/>
              <a:buAutoNum type="arabicPeriod"/>
            </a:pPr>
            <a:r>
              <a:rPr lang="en-US" sz="2200" dirty="0"/>
              <a:t>How could better software engineering practices have prevented this?</a:t>
            </a:r>
          </a:p>
          <a:p>
            <a:pPr>
              <a:buFont typeface="+mj-lt"/>
              <a:buAutoNum type="arabicPeriod"/>
            </a:pPr>
            <a:r>
              <a:rPr lang="en-US" sz="2200" dirty="0"/>
              <a:t>What testing methods (formal verification, automated testing) could have been used?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80D94-F79E-AAB4-B836-1D6DAAA6ACD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3A229E67-F894-41F5-8BBA-B08049F66090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7328F7-93F3-9609-44AC-5E0EE45D33B7}"/>
              </a:ext>
            </a:extLst>
          </p:cNvPr>
          <p:cNvSpPr txBox="1"/>
          <p:nvPr/>
        </p:nvSpPr>
        <p:spPr>
          <a:xfrm>
            <a:off x="656057" y="2398986"/>
            <a:ext cx="104789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sz="2000" b="1" dirty="0" err="1">
                <a:solidFill>
                  <a:schemeClr val="bg1"/>
                </a:solidFill>
              </a:rPr>
              <a:t>NASA’s</a:t>
            </a:r>
            <a:r>
              <a:rPr lang="fr-FR" sz="2000" b="1" dirty="0">
                <a:solidFill>
                  <a:schemeClr val="bg1"/>
                </a:solidFill>
              </a:rPr>
              <a:t> Mars </a:t>
            </a:r>
            <a:r>
              <a:rPr lang="fr-FR" sz="2000" b="1" dirty="0" err="1">
                <a:solidFill>
                  <a:schemeClr val="bg1"/>
                </a:solidFill>
              </a:rPr>
              <a:t>Climate</a:t>
            </a:r>
            <a:r>
              <a:rPr lang="fr-FR" sz="2000" b="1" dirty="0">
                <a:solidFill>
                  <a:schemeClr val="bg1"/>
                </a:solidFill>
              </a:rPr>
              <a:t> Orbiter (1999)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Toyota Prius Software Bug (2010)</a:t>
            </a:r>
            <a:endParaRPr lang="fr-FR" sz="2000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Knight Capital Group Trading System Crash (2012)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Amazon Web Services (AWS) Outage (2017)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The Heartbleed Bug (2014)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T-Mobile Data Breach (2021)</a:t>
            </a:r>
          </a:p>
        </p:txBody>
      </p:sp>
    </p:spTree>
    <p:extLst>
      <p:ext uri="{BB962C8B-B14F-4D97-AF65-F5344CB8AC3E}">
        <p14:creationId xmlns:p14="http://schemas.microsoft.com/office/powerpoint/2010/main" val="3293461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137DD-310B-EBAB-F3A2-18DC65E26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725" y="411163"/>
            <a:ext cx="5486400" cy="329247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CB0B1-5F2B-DD1A-BD1A-B3CFC446B8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3725" y="4549775"/>
            <a:ext cx="5486400" cy="1359706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Bibi Amna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hlinkClick r:id="rId3"/>
              </a:rPr>
              <a:t>BibiAmna.buic@bahria.edu.pk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71af3243-3dd4-4a8d-8c0d-dd76da1f02a5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230e9df3-be65-4c73-a93b-d1236ebd677e"/>
    <ds:schemaRef ds:uri="http://schemas.microsoft.com/office/2006/documentManagement/types"/>
    <ds:schemaRef ds:uri="16c05727-aa75-4e4a-9b5f-8a80a1165891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692</TotalTime>
  <Words>1090</Words>
  <Application>Microsoft Office PowerPoint</Application>
  <PresentationFormat>Widescreen</PresentationFormat>
  <Paragraphs>205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Calibri</vt:lpstr>
      <vt:lpstr>Franklin Gothic Book</vt:lpstr>
      <vt:lpstr>Franklin Gothic Demi</vt:lpstr>
      <vt:lpstr>Wingdings</vt:lpstr>
      <vt:lpstr>Custom</vt:lpstr>
      <vt:lpstr>Software Quality Assurance</vt:lpstr>
      <vt:lpstr>Assessment Methods and Weightage</vt:lpstr>
      <vt:lpstr>Learning Material</vt:lpstr>
      <vt:lpstr>Software Quality Assurance</vt:lpstr>
      <vt:lpstr>You are the QA lead. A release is scheduled for tonight. Would you approve the release?  YES / NO</vt:lpstr>
      <vt:lpstr>PowerPoint Presentation</vt:lpstr>
      <vt:lpstr>PowerPoint Presentation</vt:lpstr>
      <vt:lpstr>PowerPoint Presentation</vt:lpstr>
      <vt:lpstr>How to Overcome These Challenges:</vt:lpstr>
      <vt:lpstr>Objectives of SQA</vt:lpstr>
      <vt:lpstr>Cont.…</vt:lpstr>
      <vt:lpstr>PowerPoint Presentation</vt:lpstr>
      <vt:lpstr>Three General Principles of QA</vt:lpstr>
      <vt:lpstr>Cont.…</vt:lpstr>
      <vt:lpstr>Example:</vt:lpstr>
      <vt:lpstr>Cont.…</vt:lpstr>
      <vt:lpstr>Example:</vt:lpstr>
      <vt:lpstr>Cont...</vt:lpstr>
      <vt:lpstr>Cont…</vt:lpstr>
      <vt:lpstr>Common Software Quality Metrics </vt:lpstr>
      <vt:lpstr>Group Activity</vt:lpstr>
      <vt:lpstr>Software Failures Case Studies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Assurance</dc:title>
  <dc:creator>01-249222-004</dc:creator>
  <cp:lastModifiedBy>Bibi Amna</cp:lastModifiedBy>
  <cp:revision>45</cp:revision>
  <dcterms:created xsi:type="dcterms:W3CDTF">2025-02-03T16:38:16Z</dcterms:created>
  <dcterms:modified xsi:type="dcterms:W3CDTF">2026-09-01T07:59:03Z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